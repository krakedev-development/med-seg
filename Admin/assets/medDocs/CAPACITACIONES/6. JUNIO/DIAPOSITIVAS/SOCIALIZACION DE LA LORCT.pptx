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embeddedFontLst>
    <p:embeddedFont>
      <p:font typeface="Garamond"/>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iXnTuqSa7z2YzYo4+pp4cg3YUn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Garamond-bold.fntdata"/><Relationship Id="rId25" Type="http://schemas.openxmlformats.org/officeDocument/2006/relationships/font" Target="fonts/Garamond-regular.fntdata"/><Relationship Id="rId28" Type="http://schemas.openxmlformats.org/officeDocument/2006/relationships/font" Target="fonts/Garamond-boldItalic.fntdata"/><Relationship Id="rId27" Type="http://schemas.openxmlformats.org/officeDocument/2006/relationships/font" Target="fonts/Garamond-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6" name="Shape 16"/>
        <p:cNvGrpSpPr/>
        <p:nvPr/>
      </p:nvGrpSpPr>
      <p:grpSpPr>
        <a:xfrm>
          <a:off x="0" y="0"/>
          <a:ext cx="0" cy="0"/>
          <a:chOff x="0" y="0"/>
          <a:chExt cx="0" cy="0"/>
        </a:xfrm>
      </p:grpSpPr>
      <p:sp>
        <p:nvSpPr>
          <p:cNvPr id="17" name="Google Shape;17;p22"/>
          <p:cNvSpPr txBox="1"/>
          <p:nvPr>
            <p:ph idx="11" type="ftr"/>
          </p:nvPr>
        </p:nvSpPr>
        <p:spPr>
          <a:xfrm>
            <a:off x="1295401" y="5969000"/>
            <a:ext cx="7305900" cy="2794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2"/>
          <p:cNvSpPr txBox="1"/>
          <p:nvPr>
            <p:ph idx="10" type="dt"/>
          </p:nvPr>
        </p:nvSpPr>
        <p:spPr>
          <a:xfrm>
            <a:off x="8677501" y="5969000"/>
            <a:ext cx="1600200" cy="279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2" type="sldNum"/>
          </p:nvPr>
        </p:nvSpPr>
        <p:spPr>
          <a:xfrm>
            <a:off x="10353901" y="5969000"/>
            <a:ext cx="542697" cy="279400"/>
          </a:xfrm>
          <a:prstGeom prst="rect">
            <a:avLst/>
          </a:prstGeom>
          <a:noFill/>
          <a:ln>
            <a:noFill/>
          </a:ln>
        </p:spPr>
        <p:txBody>
          <a:bodyPr anchorCtr="0" anchor="ctr" bIns="0" lIns="0" spcFirstLastPara="1" rIns="0" wrap="square" tIns="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C"/>
              <a:t>‹#›</a:t>
            </a:fld>
            <a:endParaRPr b="0" i="0" sz="1000">
              <a:latin typeface="Garamond"/>
              <a:ea typeface="Garamond"/>
              <a:cs typeface="Garamond"/>
              <a:sym typeface="Garamon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20" name="Shape 20"/>
        <p:cNvGrpSpPr/>
        <p:nvPr/>
      </p:nvGrpSpPr>
      <p:grpSpPr>
        <a:xfrm>
          <a:off x="0" y="0"/>
          <a:ext cx="0" cy="0"/>
          <a:chOff x="0" y="0"/>
          <a:chExt cx="0" cy="0"/>
        </a:xfrm>
      </p:grpSpPr>
      <p:grpSp>
        <p:nvGrpSpPr>
          <p:cNvPr id="21" name="Google Shape;21;p23"/>
          <p:cNvGrpSpPr/>
          <p:nvPr/>
        </p:nvGrpSpPr>
        <p:grpSpPr>
          <a:xfrm>
            <a:off x="-16934" y="0"/>
            <a:ext cx="12231160" cy="6856214"/>
            <a:chOff x="-16934" y="0"/>
            <a:chExt cx="12231160" cy="6856214"/>
          </a:xfrm>
        </p:grpSpPr>
        <p:pic>
          <p:nvPicPr>
            <p:cNvPr descr="HD-PanelTitleR1.png" id="22" name="Google Shape;22;p23"/>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23" name="Google Shape;23;p23"/>
            <p:cNvSpPr/>
            <p:nvPr/>
          </p:nvSpPr>
          <p:spPr>
            <a:xfrm>
              <a:off x="2328332" y="1540931"/>
              <a:ext cx="7543802" cy="3835401"/>
            </a:xfrm>
            <a:prstGeom prst="rect">
              <a:avLst/>
            </a:prstGeom>
            <a:noFill/>
            <a:ln cap="flat" cmpd="sng" w="15875">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DRibbonTitle-UniformTrim.png" id="24" name="Google Shape;24;p23"/>
            <p:cNvPicPr preferRelativeResize="0"/>
            <p:nvPr/>
          </p:nvPicPr>
          <p:blipFill rotWithShape="1">
            <a:blip r:embed="rId3">
              <a:alphaModFix/>
            </a:blip>
            <a:srcRect b="0" l="0" r="0" t="0"/>
            <a:stretch/>
          </p:blipFill>
          <p:spPr>
            <a:xfrm>
              <a:off x="-16934" y="3147609"/>
              <a:ext cx="2478024" cy="612648"/>
            </a:xfrm>
            <a:prstGeom prst="rect">
              <a:avLst/>
            </a:prstGeom>
            <a:noFill/>
            <a:ln>
              <a:noFill/>
            </a:ln>
          </p:spPr>
        </p:pic>
        <p:pic>
          <p:nvPicPr>
            <p:cNvPr descr="HDRibbonTitle-UniformTrim.png" id="25" name="Google Shape;25;p23"/>
            <p:cNvPicPr preferRelativeResize="0"/>
            <p:nvPr/>
          </p:nvPicPr>
          <p:blipFill rotWithShape="1">
            <a:blip r:embed="rId3">
              <a:alphaModFix/>
            </a:blip>
            <a:srcRect b="0" l="0" r="0" t="0"/>
            <a:stretch/>
          </p:blipFill>
          <p:spPr>
            <a:xfrm>
              <a:off x="9736202" y="3147609"/>
              <a:ext cx="2478024" cy="612648"/>
            </a:xfrm>
            <a:prstGeom prst="rect">
              <a:avLst/>
            </a:prstGeom>
            <a:noFill/>
            <a:ln>
              <a:noFill/>
            </a:ln>
          </p:spPr>
        </p:pic>
      </p:grpSp>
      <p:sp>
        <p:nvSpPr>
          <p:cNvPr id="26" name="Google Shape;26;p23"/>
          <p:cNvSpPr txBox="1"/>
          <p:nvPr>
            <p:ph type="ctrTitle"/>
          </p:nvPr>
        </p:nvSpPr>
        <p:spPr>
          <a:xfrm>
            <a:off x="2692398" y="1871131"/>
            <a:ext cx="6815669" cy="151553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5400"/>
              <a:buFont typeface="Garamond"/>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3"/>
          <p:cNvSpPr txBox="1"/>
          <p:nvPr>
            <p:ph idx="1" type="subTitle"/>
          </p:nvPr>
        </p:nvSpPr>
        <p:spPr>
          <a:xfrm>
            <a:off x="2692398" y="3657597"/>
            <a:ext cx="6815669" cy="1320802"/>
          </a:xfrm>
          <a:prstGeom prst="rect">
            <a:avLst/>
          </a:prstGeom>
          <a:noFill/>
          <a:ln>
            <a:noFill/>
          </a:ln>
        </p:spPr>
        <p:txBody>
          <a:bodyPr anchorCtr="0" anchor="t" bIns="45700" lIns="91425" spcFirstLastPara="1" rIns="91425" wrap="square" tIns="45700">
            <a:norm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p:txBody>
      </p:sp>
      <p:sp>
        <p:nvSpPr>
          <p:cNvPr id="28" name="Google Shape;28;p23"/>
          <p:cNvSpPr txBox="1"/>
          <p:nvPr>
            <p:ph idx="10" type="dt"/>
          </p:nvPr>
        </p:nvSpPr>
        <p:spPr>
          <a:xfrm>
            <a:off x="7983232" y="5037663"/>
            <a:ext cx="897467"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3"/>
          <p:cNvSpPr txBox="1"/>
          <p:nvPr>
            <p:ph idx="11" type="ftr"/>
          </p:nvPr>
        </p:nvSpPr>
        <p:spPr>
          <a:xfrm>
            <a:off x="2692397" y="5037663"/>
            <a:ext cx="5214635"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3"/>
          <p:cNvSpPr txBox="1"/>
          <p:nvPr>
            <p:ph idx="12" type="sldNum"/>
          </p:nvPr>
        </p:nvSpPr>
        <p:spPr>
          <a:xfrm>
            <a:off x="8956900" y="5037663"/>
            <a:ext cx="55116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cxnSp>
        <p:nvCxnSpPr>
          <p:cNvPr id="31" name="Google Shape;31;p23"/>
          <p:cNvCxnSpPr/>
          <p:nvPr/>
        </p:nvCxnSpPr>
        <p:spPr>
          <a:xfrm>
            <a:off x="2692399" y="3522131"/>
            <a:ext cx="681566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p:cSld name="Título y objetos">
    <p:spTree>
      <p:nvGrpSpPr>
        <p:cNvPr id="32" name="Shape 32"/>
        <p:cNvGrpSpPr/>
        <p:nvPr/>
      </p:nvGrpSpPr>
      <p:grpSpPr>
        <a:xfrm>
          <a:off x="0" y="0"/>
          <a:ext cx="0" cy="0"/>
          <a:chOff x="0" y="0"/>
          <a:chExt cx="0" cy="0"/>
        </a:xfrm>
      </p:grpSpPr>
      <p:cxnSp>
        <p:nvCxnSpPr>
          <p:cNvPr id="33" name="Google Shape;33;p24"/>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
        <p:nvSpPr>
          <p:cNvPr id="34" name="Google Shape;34;p2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4"/>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36" name="Google Shape;36;p2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9" name="Shape 39"/>
        <p:cNvGrpSpPr/>
        <p:nvPr/>
      </p:nvGrpSpPr>
      <p:grpSpPr>
        <a:xfrm>
          <a:off x="0" y="0"/>
          <a:ext cx="0" cy="0"/>
          <a:chOff x="0" y="0"/>
          <a:chExt cx="0" cy="0"/>
        </a:xfrm>
      </p:grpSpPr>
      <p:sp>
        <p:nvSpPr>
          <p:cNvPr id="40" name="Google Shape;40;p25"/>
          <p:cNvSpPr txBox="1"/>
          <p:nvPr>
            <p:ph type="title"/>
          </p:nvPr>
        </p:nvSpPr>
        <p:spPr>
          <a:xfrm>
            <a:off x="2015069" y="1752606"/>
            <a:ext cx="8158688" cy="1822514"/>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4400"/>
              <a:buFont typeface="Garamond"/>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5"/>
          <p:cNvSpPr txBox="1"/>
          <p:nvPr>
            <p:ph idx="1" type="body"/>
          </p:nvPr>
        </p:nvSpPr>
        <p:spPr>
          <a:xfrm>
            <a:off x="2015067" y="3846051"/>
            <a:ext cx="8158690" cy="954547"/>
          </a:xfrm>
          <a:prstGeom prst="rect">
            <a:avLst/>
          </a:prstGeom>
          <a:noFill/>
          <a:ln>
            <a:noFill/>
          </a:ln>
        </p:spPr>
        <p:txBody>
          <a:bodyPr anchorCtr="0" anchor="t" bIns="45700" lIns="91425" spcFirstLastPara="1" rIns="91425" wrap="square" tIns="45700">
            <a:normAutofit/>
          </a:bodyPr>
          <a:lstStyle>
            <a:lvl1pPr indent="-228600" lvl="0" marL="457200" algn="ctr">
              <a:spcBef>
                <a:spcPts val="48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42" name="Google Shape;42;p2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cxnSp>
        <p:nvCxnSpPr>
          <p:cNvPr id="45" name="Google Shape;45;p25"/>
          <p:cNvCxnSpPr/>
          <p:nvPr/>
        </p:nvCxnSpPr>
        <p:spPr>
          <a:xfrm>
            <a:off x="2012723" y="3710585"/>
            <a:ext cx="8163380"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6" name="Shape 46"/>
        <p:cNvGrpSpPr/>
        <p:nvPr/>
      </p:nvGrpSpPr>
      <p:grpSpPr>
        <a:xfrm>
          <a:off x="0" y="0"/>
          <a:ext cx="0" cy="0"/>
          <a:chOff x="0" y="0"/>
          <a:chExt cx="0" cy="0"/>
        </a:xfrm>
      </p:grpSpPr>
      <p:cxnSp>
        <p:nvCxnSpPr>
          <p:cNvPr id="47" name="Google Shape;47;p26"/>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
        <p:nvSpPr>
          <p:cNvPr id="48" name="Google Shape;48;p2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6"/>
          <p:cNvSpPr txBox="1"/>
          <p:nvPr>
            <p:ph idx="1" type="body"/>
          </p:nvPr>
        </p:nvSpPr>
        <p:spPr>
          <a:xfrm>
            <a:off x="1298448" y="2560320"/>
            <a:ext cx="4718304" cy="3310128"/>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0" name="Google Shape;50;p26"/>
          <p:cNvSpPr txBox="1"/>
          <p:nvPr>
            <p:ph idx="2" type="body"/>
          </p:nvPr>
        </p:nvSpPr>
        <p:spPr>
          <a:xfrm>
            <a:off x="6181344" y="2560320"/>
            <a:ext cx="4718304" cy="3310128"/>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1" name="Google Shape;51;p2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4" name="Shape 54"/>
        <p:cNvGrpSpPr/>
        <p:nvPr/>
      </p:nvGrpSpPr>
      <p:grpSpPr>
        <a:xfrm>
          <a:off x="0" y="0"/>
          <a:ext cx="0" cy="0"/>
          <a:chOff x="0" y="0"/>
          <a:chExt cx="0" cy="0"/>
        </a:xfrm>
      </p:grpSpPr>
      <p:sp>
        <p:nvSpPr>
          <p:cNvPr id="55" name="Google Shape;55;p2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7"/>
          <p:cNvSpPr txBox="1"/>
          <p:nvPr>
            <p:ph idx="1" type="body"/>
          </p:nvPr>
        </p:nvSpPr>
        <p:spPr>
          <a:xfrm>
            <a:off x="1295400"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672"/>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57" name="Google Shape;57;p27"/>
          <p:cNvSpPr txBox="1"/>
          <p:nvPr>
            <p:ph idx="2" type="body"/>
          </p:nvPr>
        </p:nvSpPr>
        <p:spPr>
          <a:xfrm>
            <a:off x="1295400"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8" name="Google Shape;58;p27"/>
          <p:cNvSpPr txBox="1"/>
          <p:nvPr>
            <p:ph idx="3" type="body"/>
          </p:nvPr>
        </p:nvSpPr>
        <p:spPr>
          <a:xfrm>
            <a:off x="6180670"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672"/>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59" name="Google Shape;59;p27"/>
          <p:cNvSpPr txBox="1"/>
          <p:nvPr>
            <p:ph idx="4" type="body"/>
          </p:nvPr>
        </p:nvSpPr>
        <p:spPr>
          <a:xfrm>
            <a:off x="6180670"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60" name="Google Shape;60;p2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cxnSp>
        <p:nvCxnSpPr>
          <p:cNvPr id="63" name="Google Shape;63;p27"/>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4" name="Shape 64"/>
        <p:cNvGrpSpPr/>
        <p:nvPr/>
      </p:nvGrpSpPr>
      <p:grpSpPr>
        <a:xfrm>
          <a:off x="0" y="0"/>
          <a:ext cx="0" cy="0"/>
          <a:chOff x="0" y="0"/>
          <a:chExt cx="0" cy="0"/>
        </a:xfrm>
      </p:grpSpPr>
      <p:sp>
        <p:nvSpPr>
          <p:cNvPr id="65" name="Google Shape;65;p2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cxnSp>
        <p:nvCxnSpPr>
          <p:cNvPr id="69" name="Google Shape;69;p28"/>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70" name="Shape 70"/>
        <p:cNvGrpSpPr/>
        <p:nvPr/>
      </p:nvGrpSpPr>
      <p:grpSpPr>
        <a:xfrm>
          <a:off x="0" y="0"/>
          <a:ext cx="0" cy="0"/>
          <a:chOff x="0" y="0"/>
          <a:chExt cx="0" cy="0"/>
        </a:xfrm>
      </p:grpSpPr>
      <p:sp>
        <p:nvSpPr>
          <p:cNvPr id="71" name="Google Shape;71;p2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74" name="Shape 74"/>
        <p:cNvGrpSpPr/>
        <p:nvPr/>
      </p:nvGrpSpPr>
      <p:grpSpPr>
        <a:xfrm>
          <a:off x="0" y="0"/>
          <a:ext cx="0" cy="0"/>
          <a:chOff x="0" y="0"/>
          <a:chExt cx="0" cy="0"/>
        </a:xfrm>
      </p:grpSpPr>
      <p:sp>
        <p:nvSpPr>
          <p:cNvPr id="75" name="Google Shape;75;p30"/>
          <p:cNvSpPr txBox="1"/>
          <p:nvPr>
            <p:ph type="title"/>
          </p:nvPr>
        </p:nvSpPr>
        <p:spPr>
          <a:xfrm>
            <a:off x="1293811" y="1388534"/>
            <a:ext cx="3718455"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Garamond"/>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 type="body"/>
          </p:nvPr>
        </p:nvSpPr>
        <p:spPr>
          <a:xfrm>
            <a:off x="5418668" y="982131"/>
            <a:ext cx="5469466" cy="4893735"/>
          </a:xfrm>
          <a:prstGeom prst="rect">
            <a:avLst/>
          </a:prstGeom>
          <a:noFill/>
          <a:ln>
            <a:noFill/>
          </a:ln>
        </p:spPr>
        <p:txBody>
          <a:bodyPr anchorCtr="0" anchor="ctr"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77" name="Google Shape;77;p30"/>
          <p:cNvSpPr txBox="1"/>
          <p:nvPr>
            <p:ph idx="2" type="body"/>
          </p:nvPr>
        </p:nvSpPr>
        <p:spPr>
          <a:xfrm>
            <a:off x="1293811" y="3031065"/>
            <a:ext cx="3718455" cy="2438404"/>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840"/>
              <a:buNone/>
              <a:defRPr sz="16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78" name="Google Shape;78;p3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cxnSp>
        <p:nvCxnSpPr>
          <p:cNvPr id="81" name="Google Shape;81;p30"/>
          <p:cNvCxnSpPr/>
          <p:nvPr/>
        </p:nvCxnSpPr>
        <p:spPr>
          <a:xfrm>
            <a:off x="1396169" y="2912533"/>
            <a:ext cx="35144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82" name="Shape 82"/>
        <p:cNvGrpSpPr/>
        <p:nvPr/>
      </p:nvGrpSpPr>
      <p:grpSpPr>
        <a:xfrm>
          <a:off x="0" y="0"/>
          <a:ext cx="0" cy="0"/>
          <a:chOff x="0" y="0"/>
          <a:chExt cx="0" cy="0"/>
        </a:xfrm>
      </p:grpSpPr>
      <p:sp>
        <p:nvSpPr>
          <p:cNvPr id="83" name="Google Shape;83;p31"/>
          <p:cNvSpPr txBox="1"/>
          <p:nvPr>
            <p:ph type="title"/>
          </p:nvPr>
        </p:nvSpPr>
        <p:spPr>
          <a:xfrm>
            <a:off x="1295399" y="1883832"/>
            <a:ext cx="6241816"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800"/>
              <a:buFont typeface="Garamond"/>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1"/>
          <p:cNvSpPr/>
          <p:nvPr>
            <p:ph idx="2" type="pic"/>
          </p:nvPr>
        </p:nvSpPr>
        <p:spPr>
          <a:xfrm>
            <a:off x="8094831" y="1041400"/>
            <a:ext cx="3063347" cy="4775200"/>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85" name="Google Shape;85;p31"/>
          <p:cNvSpPr txBox="1"/>
          <p:nvPr>
            <p:ph idx="1" type="body"/>
          </p:nvPr>
        </p:nvSpPr>
        <p:spPr>
          <a:xfrm>
            <a:off x="1295399" y="3255432"/>
            <a:ext cx="6241816" cy="18288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SzPts val="2070"/>
              <a:buNone/>
              <a:defRPr sz="18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86" name="Google Shape;86;p3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anorámica con descripción">
  <p:cSld name="Imagen panorámica con descripción">
    <p:spTree>
      <p:nvGrpSpPr>
        <p:cNvPr id="89" name="Shape 89"/>
        <p:cNvGrpSpPr/>
        <p:nvPr/>
      </p:nvGrpSpPr>
      <p:grpSpPr>
        <a:xfrm>
          <a:off x="0" y="0"/>
          <a:ext cx="0" cy="0"/>
          <a:chOff x="0" y="0"/>
          <a:chExt cx="0" cy="0"/>
        </a:xfrm>
      </p:grpSpPr>
      <p:sp>
        <p:nvSpPr>
          <p:cNvPr id="90" name="Google Shape;90;p32"/>
          <p:cNvSpPr txBox="1"/>
          <p:nvPr>
            <p:ph type="title"/>
          </p:nvPr>
        </p:nvSpPr>
        <p:spPr>
          <a:xfrm>
            <a:off x="1295401" y="4815415"/>
            <a:ext cx="9609666"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Garamond"/>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32"/>
          <p:cNvSpPr/>
          <p:nvPr>
            <p:ph idx="2" type="pic"/>
          </p:nvPr>
        </p:nvSpPr>
        <p:spPr>
          <a:xfrm>
            <a:off x="1041427" y="1041399"/>
            <a:ext cx="10105972" cy="3335869"/>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92" name="Google Shape;92;p32"/>
          <p:cNvSpPr txBox="1"/>
          <p:nvPr>
            <p:ph idx="1" type="body"/>
          </p:nvPr>
        </p:nvSpPr>
        <p:spPr>
          <a:xfrm>
            <a:off x="1295401" y="5382153"/>
            <a:ext cx="9609666" cy="493712"/>
          </a:xfrm>
          <a:prstGeom prst="rect">
            <a:avLst/>
          </a:prstGeom>
          <a:noFill/>
          <a:ln>
            <a:noFill/>
          </a:ln>
        </p:spPr>
        <p:txBody>
          <a:bodyPr anchorCtr="0" anchor="t" bIns="45700" lIns="91425" spcFirstLastPara="1" rIns="91425" wrap="square" tIns="45700">
            <a:normAutofit/>
          </a:bodyPr>
          <a:lstStyle>
            <a:lvl1pPr indent="-228600" lvl="0" marL="457200" algn="ctr">
              <a:spcBef>
                <a:spcPts val="280"/>
              </a:spcBef>
              <a:spcAft>
                <a:spcPts val="0"/>
              </a:spcAft>
              <a:buSzPts val="1610"/>
              <a:buNone/>
              <a:defRPr sz="14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93" name="Google Shape;93;p32"/>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2"/>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2"/>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p:cSld name="Título y descripción">
    <p:spTree>
      <p:nvGrpSpPr>
        <p:cNvPr id="96" name="Shape 96"/>
        <p:cNvGrpSpPr/>
        <p:nvPr/>
      </p:nvGrpSpPr>
      <p:grpSpPr>
        <a:xfrm>
          <a:off x="0" y="0"/>
          <a:ext cx="0" cy="0"/>
          <a:chOff x="0" y="0"/>
          <a:chExt cx="0" cy="0"/>
        </a:xfrm>
      </p:grpSpPr>
      <p:sp>
        <p:nvSpPr>
          <p:cNvPr id="97" name="Google Shape;97;p33"/>
          <p:cNvSpPr txBox="1"/>
          <p:nvPr>
            <p:ph type="title"/>
          </p:nvPr>
        </p:nvSpPr>
        <p:spPr>
          <a:xfrm>
            <a:off x="1303868" y="982132"/>
            <a:ext cx="9592732" cy="29548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3200"/>
              <a:buFont typeface="Garamond"/>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3"/>
          <p:cNvSpPr txBox="1"/>
          <p:nvPr>
            <p:ph idx="1" type="body"/>
          </p:nvPr>
        </p:nvSpPr>
        <p:spPr>
          <a:xfrm>
            <a:off x="1303868" y="4343399"/>
            <a:ext cx="9592732"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99" name="Google Shape;99;p33"/>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3"/>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3"/>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cxnSp>
        <p:nvCxnSpPr>
          <p:cNvPr id="102" name="Google Shape;102;p33"/>
          <p:cNvCxnSpPr/>
          <p:nvPr/>
        </p:nvCxnSpPr>
        <p:spPr>
          <a:xfrm>
            <a:off x="1396169" y="4140199"/>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p:cSld name="Cita con descripción">
    <p:spTree>
      <p:nvGrpSpPr>
        <p:cNvPr id="103" name="Shape 103"/>
        <p:cNvGrpSpPr/>
        <p:nvPr/>
      </p:nvGrpSpPr>
      <p:grpSpPr>
        <a:xfrm>
          <a:off x="0" y="0"/>
          <a:ext cx="0" cy="0"/>
          <a:chOff x="0" y="0"/>
          <a:chExt cx="0" cy="0"/>
        </a:xfrm>
      </p:grpSpPr>
      <p:sp>
        <p:nvSpPr>
          <p:cNvPr id="104" name="Google Shape;104;p34"/>
          <p:cNvSpPr txBox="1"/>
          <p:nvPr>
            <p:ph type="title"/>
          </p:nvPr>
        </p:nvSpPr>
        <p:spPr>
          <a:xfrm>
            <a:off x="1446213" y="982132"/>
            <a:ext cx="9296398" cy="2370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Garamond"/>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4"/>
          <p:cNvSpPr txBox="1"/>
          <p:nvPr>
            <p:ph idx="1" type="body"/>
          </p:nvPr>
        </p:nvSpPr>
        <p:spPr>
          <a:xfrm>
            <a:off x="1674812" y="3352800"/>
            <a:ext cx="8839202" cy="584200"/>
          </a:xfrm>
          <a:prstGeom prst="rect">
            <a:avLst/>
          </a:prstGeom>
          <a:noFill/>
          <a:ln>
            <a:noFill/>
          </a:ln>
        </p:spPr>
        <p:txBody>
          <a:bodyPr anchorCtr="0" anchor="ctr" bIns="45700" lIns="91425" spcFirstLastPara="1" rIns="91425" wrap="square" tIns="45700">
            <a:normAutofit/>
          </a:bodyPr>
          <a:lstStyle>
            <a:lvl1pPr indent="-228600" lvl="0" marL="457200" algn="r">
              <a:spcBef>
                <a:spcPts val="400"/>
              </a:spcBef>
              <a:spcAft>
                <a:spcPts val="0"/>
              </a:spcAft>
              <a:buSzPts val="2300"/>
              <a:buFont typeface="Garamond"/>
              <a:buNone/>
              <a:defRPr sz="2000"/>
            </a:lvl1pPr>
            <a:lvl2pPr indent="-228600" lvl="1" marL="914400" algn="l">
              <a:spcBef>
                <a:spcPts val="600"/>
              </a:spcBef>
              <a:spcAft>
                <a:spcPts val="0"/>
              </a:spcAft>
              <a:buSzPts val="2300"/>
              <a:buFont typeface="Garamond"/>
              <a:buNone/>
              <a:defRPr/>
            </a:lvl2pPr>
            <a:lvl3pPr indent="-228600" lvl="2" marL="1371600" algn="l">
              <a:spcBef>
                <a:spcPts val="600"/>
              </a:spcBef>
              <a:spcAft>
                <a:spcPts val="0"/>
              </a:spcAft>
              <a:buSzPts val="2070"/>
              <a:buFont typeface="Garamond"/>
              <a:buNone/>
              <a:defRPr/>
            </a:lvl3pPr>
            <a:lvl4pPr indent="-228600" lvl="3" marL="1828800" algn="l">
              <a:spcBef>
                <a:spcPts val="600"/>
              </a:spcBef>
              <a:spcAft>
                <a:spcPts val="0"/>
              </a:spcAft>
              <a:buSzPts val="1840"/>
              <a:buFont typeface="Garamond"/>
              <a:buNone/>
              <a:defRPr/>
            </a:lvl4pPr>
            <a:lvl5pPr indent="-228600" lvl="4" marL="2286000" algn="l">
              <a:spcBef>
                <a:spcPts val="600"/>
              </a:spcBef>
              <a:spcAft>
                <a:spcPts val="0"/>
              </a:spcAft>
              <a:buSzPts val="1610"/>
              <a:buFont typeface="Garamond"/>
              <a:buNone/>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06" name="Google Shape;106;p34"/>
          <p:cNvSpPr txBox="1"/>
          <p:nvPr>
            <p:ph idx="2" type="body"/>
          </p:nvPr>
        </p:nvSpPr>
        <p:spPr>
          <a:xfrm>
            <a:off x="1295401" y="4343399"/>
            <a:ext cx="9609666"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07" name="Google Shape;107;p3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3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sp>
        <p:nvSpPr>
          <p:cNvPr id="110" name="Google Shape;110;p34"/>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EC" sz="8000">
                <a:solidFill>
                  <a:schemeClr val="dk1"/>
                </a:solidFill>
                <a:latin typeface="Garamond"/>
                <a:ea typeface="Garamond"/>
                <a:cs typeface="Garamond"/>
                <a:sym typeface="Garamond"/>
              </a:rPr>
              <a:t>“</a:t>
            </a:r>
            <a:endParaRPr/>
          </a:p>
        </p:txBody>
      </p:sp>
      <p:sp>
        <p:nvSpPr>
          <p:cNvPr id="111" name="Google Shape;111;p34"/>
          <p:cNvSpPr txBox="1"/>
          <p:nvPr/>
        </p:nvSpPr>
        <p:spPr>
          <a:xfrm>
            <a:off x="10600267" y="282787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s-EC" sz="8000">
                <a:solidFill>
                  <a:schemeClr val="dk1"/>
                </a:solidFill>
                <a:latin typeface="Garamond"/>
                <a:ea typeface="Garamond"/>
                <a:cs typeface="Garamond"/>
                <a:sym typeface="Garamond"/>
              </a:rPr>
              <a:t>”</a:t>
            </a:r>
            <a:endParaRPr/>
          </a:p>
        </p:txBody>
      </p:sp>
      <p:cxnSp>
        <p:nvCxnSpPr>
          <p:cNvPr id="112" name="Google Shape;112;p34"/>
          <p:cNvCxnSpPr/>
          <p:nvPr/>
        </p:nvCxnSpPr>
        <p:spPr>
          <a:xfrm>
            <a:off x="1396169" y="4140199"/>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p:cSld name="Tarjeta de nombre">
    <p:spTree>
      <p:nvGrpSpPr>
        <p:cNvPr id="113" name="Shape 113"/>
        <p:cNvGrpSpPr/>
        <p:nvPr/>
      </p:nvGrpSpPr>
      <p:grpSpPr>
        <a:xfrm>
          <a:off x="0" y="0"/>
          <a:ext cx="0" cy="0"/>
          <a:chOff x="0" y="0"/>
          <a:chExt cx="0" cy="0"/>
        </a:xfrm>
      </p:grpSpPr>
      <p:sp>
        <p:nvSpPr>
          <p:cNvPr id="114" name="Google Shape;114;p35"/>
          <p:cNvSpPr txBox="1"/>
          <p:nvPr>
            <p:ph type="title"/>
          </p:nvPr>
        </p:nvSpPr>
        <p:spPr>
          <a:xfrm>
            <a:off x="1295402" y="3308581"/>
            <a:ext cx="9609668"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3200"/>
              <a:buFont typeface="Garamond"/>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35"/>
          <p:cNvSpPr txBox="1"/>
          <p:nvPr>
            <p:ph idx="1" type="body"/>
          </p:nvPr>
        </p:nvSpPr>
        <p:spPr>
          <a:xfrm>
            <a:off x="1295401" y="4777381"/>
            <a:ext cx="9609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6" name="Google Shape;116;p3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3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la tarjeta de nombre">
  <p:cSld name="Citar la tarjeta de nombre">
    <p:spTree>
      <p:nvGrpSpPr>
        <p:cNvPr id="119" name="Shape 119"/>
        <p:cNvGrpSpPr/>
        <p:nvPr/>
      </p:nvGrpSpPr>
      <p:grpSpPr>
        <a:xfrm>
          <a:off x="0" y="0"/>
          <a:ext cx="0" cy="0"/>
          <a:chOff x="0" y="0"/>
          <a:chExt cx="0" cy="0"/>
        </a:xfrm>
      </p:grpSpPr>
      <p:sp>
        <p:nvSpPr>
          <p:cNvPr id="120" name="Google Shape;120;p36"/>
          <p:cNvSpPr txBox="1"/>
          <p:nvPr>
            <p:ph type="title"/>
          </p:nvPr>
        </p:nvSpPr>
        <p:spPr>
          <a:xfrm>
            <a:off x="1446213" y="982132"/>
            <a:ext cx="9296398"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Garamond"/>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6"/>
          <p:cNvSpPr txBox="1"/>
          <p:nvPr>
            <p:ph idx="1" type="body"/>
          </p:nvPr>
        </p:nvSpPr>
        <p:spPr>
          <a:xfrm>
            <a:off x="1295401" y="3639312"/>
            <a:ext cx="9609668" cy="88696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2" name="Google Shape;122;p36"/>
          <p:cNvSpPr txBox="1"/>
          <p:nvPr>
            <p:ph idx="2" type="body"/>
          </p:nvPr>
        </p:nvSpPr>
        <p:spPr>
          <a:xfrm>
            <a:off x="1295401" y="4529667"/>
            <a:ext cx="9609668" cy="13462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3" name="Google Shape;123;p3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3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3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sp>
        <p:nvSpPr>
          <p:cNvPr id="126" name="Google Shape;126;p36"/>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EC" sz="8000">
                <a:solidFill>
                  <a:schemeClr val="dk1"/>
                </a:solidFill>
                <a:latin typeface="Garamond"/>
                <a:ea typeface="Garamond"/>
                <a:cs typeface="Garamond"/>
                <a:sym typeface="Garamond"/>
              </a:rPr>
              <a:t>“</a:t>
            </a:r>
            <a:endParaRPr/>
          </a:p>
        </p:txBody>
      </p:sp>
      <p:sp>
        <p:nvSpPr>
          <p:cNvPr id="127" name="Google Shape;127;p36"/>
          <p:cNvSpPr txBox="1"/>
          <p:nvPr/>
        </p:nvSpPr>
        <p:spPr>
          <a:xfrm>
            <a:off x="10600267" y="2599261"/>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s-EC" sz="8000">
                <a:solidFill>
                  <a:schemeClr val="dk1"/>
                </a:solidFill>
                <a:latin typeface="Garamond"/>
                <a:ea typeface="Garamond"/>
                <a:cs typeface="Garamond"/>
                <a:sym typeface="Garamond"/>
              </a:rPr>
              <a:t>”</a:t>
            </a:r>
            <a:endParaRPr/>
          </a:p>
        </p:txBody>
      </p:sp>
      <p:cxnSp>
        <p:nvCxnSpPr>
          <p:cNvPr id="128" name="Google Shape;128;p36"/>
          <p:cNvCxnSpPr/>
          <p:nvPr/>
        </p:nvCxnSpPr>
        <p:spPr>
          <a:xfrm>
            <a:off x="1396169" y="3429000"/>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dadero o falso">
  <p:cSld name="Verdadero o falso">
    <p:spTree>
      <p:nvGrpSpPr>
        <p:cNvPr id="129" name="Shape 129"/>
        <p:cNvGrpSpPr/>
        <p:nvPr/>
      </p:nvGrpSpPr>
      <p:grpSpPr>
        <a:xfrm>
          <a:off x="0" y="0"/>
          <a:ext cx="0" cy="0"/>
          <a:chOff x="0" y="0"/>
          <a:chExt cx="0" cy="0"/>
        </a:xfrm>
      </p:grpSpPr>
      <p:sp>
        <p:nvSpPr>
          <p:cNvPr id="130" name="Google Shape;130;p37"/>
          <p:cNvSpPr txBox="1"/>
          <p:nvPr>
            <p:ph type="title"/>
          </p:nvPr>
        </p:nvSpPr>
        <p:spPr>
          <a:xfrm>
            <a:off x="1295401" y="982132"/>
            <a:ext cx="9609666"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37"/>
          <p:cNvSpPr txBox="1"/>
          <p:nvPr>
            <p:ph idx="1" type="body"/>
          </p:nvPr>
        </p:nvSpPr>
        <p:spPr>
          <a:xfrm>
            <a:off x="1295401" y="3630168"/>
            <a:ext cx="9609668" cy="84124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3220"/>
              <a:buNone/>
              <a:defRPr sz="2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32" name="Google Shape;132;p37"/>
          <p:cNvSpPr txBox="1"/>
          <p:nvPr>
            <p:ph idx="2" type="body"/>
          </p:nvPr>
        </p:nvSpPr>
        <p:spPr>
          <a:xfrm>
            <a:off x="1295400" y="4470399"/>
            <a:ext cx="9609670" cy="14054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33" name="Google Shape;133;p3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cxnSp>
        <p:nvCxnSpPr>
          <p:cNvPr id="136" name="Google Shape;136;p37"/>
          <p:cNvCxnSpPr/>
          <p:nvPr/>
        </p:nvCxnSpPr>
        <p:spPr>
          <a:xfrm>
            <a:off x="1396169" y="3429000"/>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37" name="Shape 137"/>
        <p:cNvGrpSpPr/>
        <p:nvPr/>
      </p:nvGrpSpPr>
      <p:grpSpPr>
        <a:xfrm>
          <a:off x="0" y="0"/>
          <a:ext cx="0" cy="0"/>
          <a:chOff x="0" y="0"/>
          <a:chExt cx="0" cy="0"/>
        </a:xfrm>
      </p:grpSpPr>
      <p:sp>
        <p:nvSpPr>
          <p:cNvPr id="138" name="Google Shape;138;p3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8"/>
          <p:cNvSpPr txBox="1"/>
          <p:nvPr>
            <p:ph idx="1" type="body"/>
          </p:nvPr>
        </p:nvSpPr>
        <p:spPr>
          <a:xfrm rot="5400000">
            <a:off x="4436531" y="-584198"/>
            <a:ext cx="3318936" cy="9601196"/>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40" name="Google Shape;140;p3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cxnSp>
        <p:nvCxnSpPr>
          <p:cNvPr id="143" name="Google Shape;143;p38"/>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44" name="Shape 144"/>
        <p:cNvGrpSpPr/>
        <p:nvPr/>
      </p:nvGrpSpPr>
      <p:grpSpPr>
        <a:xfrm>
          <a:off x="0" y="0"/>
          <a:ext cx="0" cy="0"/>
          <a:chOff x="0" y="0"/>
          <a:chExt cx="0" cy="0"/>
        </a:xfrm>
      </p:grpSpPr>
      <p:sp>
        <p:nvSpPr>
          <p:cNvPr id="145" name="Google Shape;145;p39"/>
          <p:cNvSpPr txBox="1"/>
          <p:nvPr>
            <p:ph type="title"/>
          </p:nvPr>
        </p:nvSpPr>
        <p:spPr>
          <a:xfrm rot="5400000">
            <a:off x="7497936" y="2483551"/>
            <a:ext cx="4893735" cy="189089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39"/>
          <p:cNvSpPr txBox="1"/>
          <p:nvPr>
            <p:ph idx="1" type="body"/>
          </p:nvPr>
        </p:nvSpPr>
        <p:spPr>
          <a:xfrm rot="5400000">
            <a:off x="2565043" y="-287514"/>
            <a:ext cx="4893734" cy="743302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47" name="Google Shape;147;p3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3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3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C"/>
              <a:t>‹#›</a:t>
            </a:fld>
            <a:endParaRPr/>
          </a:p>
        </p:txBody>
      </p:sp>
      <p:cxnSp>
        <p:nvCxnSpPr>
          <p:cNvPr id="150" name="Google Shape;150;p39"/>
          <p:cNvCxnSpPr/>
          <p:nvPr/>
        </p:nvCxnSpPr>
        <p:spPr>
          <a:xfrm>
            <a:off x="8863890" y="990600"/>
            <a:ext cx="0" cy="487680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7.xml"/><Relationship Id="rId11" Type="http://schemas.openxmlformats.org/officeDocument/2006/relationships/slideLayout" Target="../slideLayouts/slideLayout8.xml"/><Relationship Id="rId22" Type="http://schemas.openxmlformats.org/officeDocument/2006/relationships/theme" Target="../theme/theme1.xml"/><Relationship Id="rId10" Type="http://schemas.openxmlformats.org/officeDocument/2006/relationships/slideLayout" Target="../slideLayouts/slideLayout7.xml"/><Relationship Id="rId21" Type="http://schemas.openxmlformats.org/officeDocument/2006/relationships/slideLayout" Target="../slideLayouts/slideLayout18.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27.jp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5" Type="http://schemas.openxmlformats.org/officeDocument/2006/relationships/slideLayout" Target="../slideLayouts/slideLayout2.xml"/><Relationship Id="rId19" Type="http://schemas.openxmlformats.org/officeDocument/2006/relationships/slideLayout" Target="../slideLayouts/slideLayout16.xml"/><Relationship Id="rId6" Type="http://schemas.openxmlformats.org/officeDocument/2006/relationships/slideLayout" Target="../slideLayouts/slideLayout3.xml"/><Relationship Id="rId18" Type="http://schemas.openxmlformats.org/officeDocument/2006/relationships/slideLayout" Target="../slideLayouts/slideLayout15.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21"/>
          <p:cNvGrpSpPr/>
          <p:nvPr/>
        </p:nvGrpSpPr>
        <p:grpSpPr>
          <a:xfrm>
            <a:off x="-15736" y="0"/>
            <a:ext cx="12229962" cy="6856214"/>
            <a:chOff x="-15736" y="0"/>
            <a:chExt cx="12229962" cy="6856214"/>
          </a:xfrm>
        </p:grpSpPr>
        <p:pic>
          <p:nvPicPr>
            <p:cNvPr descr="HD-PanelContent.png" id="7" name="Google Shape;7;p21"/>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8" name="Google Shape;8;p21"/>
            <p:cNvSpPr/>
            <p:nvPr/>
          </p:nvSpPr>
          <p:spPr>
            <a:xfrm>
              <a:off x="608012" y="609600"/>
              <a:ext cx="10972800" cy="5638800"/>
            </a:xfrm>
            <a:prstGeom prst="rect">
              <a:avLst/>
            </a:prstGeom>
            <a:noFill/>
            <a:ln cap="flat" cmpd="sng" w="15875">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aramond"/>
                <a:ea typeface="Garamond"/>
                <a:cs typeface="Garamond"/>
                <a:sym typeface="Garamond"/>
              </a:endParaRPr>
            </a:p>
          </p:txBody>
        </p:sp>
        <p:pic>
          <p:nvPicPr>
            <p:cNvPr descr="HDRibbonContent-UniformTrim.png" id="9" name="Google Shape;9;p21"/>
            <p:cNvPicPr preferRelativeResize="0"/>
            <p:nvPr/>
          </p:nvPicPr>
          <p:blipFill rotWithShape="1">
            <a:blip r:embed="rId3">
              <a:alphaModFix/>
            </a:blip>
            <a:srcRect b="0" l="0" r="0" t="0"/>
            <a:stretch/>
          </p:blipFill>
          <p:spPr>
            <a:xfrm>
              <a:off x="-15736" y="3153832"/>
              <a:ext cx="777240" cy="606425"/>
            </a:xfrm>
            <a:prstGeom prst="rect">
              <a:avLst/>
            </a:prstGeom>
            <a:noFill/>
            <a:ln>
              <a:noFill/>
            </a:ln>
          </p:spPr>
        </p:pic>
        <p:pic>
          <p:nvPicPr>
            <p:cNvPr descr="HDRibbonContent-UniformTrim.png" id="10" name="Google Shape;10;p21"/>
            <p:cNvPicPr preferRelativeResize="0"/>
            <p:nvPr/>
          </p:nvPicPr>
          <p:blipFill rotWithShape="1">
            <a:blip r:embed="rId3">
              <a:alphaModFix/>
            </a:blip>
            <a:srcRect b="0" l="0" r="0" t="0"/>
            <a:stretch/>
          </p:blipFill>
          <p:spPr>
            <a:xfrm>
              <a:off x="11436986" y="3153832"/>
              <a:ext cx="777240" cy="606425"/>
            </a:xfrm>
            <a:prstGeom prst="rect">
              <a:avLst/>
            </a:prstGeom>
            <a:noFill/>
            <a:ln>
              <a:noFill/>
            </a:ln>
          </p:spPr>
        </p:pic>
      </p:grpSp>
      <p:sp>
        <p:nvSpPr>
          <p:cNvPr id="11" name="Google Shape;11;p2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262626"/>
              </a:buClr>
              <a:buSzPts val="4400"/>
              <a:buFont typeface="Garamond"/>
              <a:buNone/>
              <a:defRPr b="0" i="0" sz="44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 name="Google Shape;12;p21"/>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403860" lvl="0" marL="457200" marR="0" rtl="0" algn="l">
              <a:spcBef>
                <a:spcPts val="480"/>
              </a:spcBef>
              <a:spcAft>
                <a:spcPts val="0"/>
              </a:spcAft>
              <a:buClr>
                <a:schemeClr val="accent1"/>
              </a:buClr>
              <a:buSzPts val="2760"/>
              <a:buFont typeface="Arial"/>
              <a:buChar char="•"/>
              <a:defRPr b="0" i="0" sz="2400" u="none" cap="none" strike="noStrike">
                <a:solidFill>
                  <a:srgbClr val="262626"/>
                </a:solidFill>
                <a:latin typeface="Garamond"/>
                <a:ea typeface="Garamond"/>
                <a:cs typeface="Garamond"/>
                <a:sym typeface="Garamond"/>
              </a:defRPr>
            </a:lvl1pPr>
            <a:lvl2pPr indent="-374650" lvl="1" marL="914400" marR="0" rtl="0" algn="l">
              <a:spcBef>
                <a:spcPts val="600"/>
              </a:spcBef>
              <a:spcAft>
                <a:spcPts val="0"/>
              </a:spcAft>
              <a:buClr>
                <a:schemeClr val="accent1"/>
              </a:buClr>
              <a:buSzPts val="2300"/>
              <a:buFont typeface="Arial"/>
              <a:buChar char="•"/>
              <a:defRPr b="0" i="0" sz="2000" u="none" cap="none" strike="noStrike">
                <a:solidFill>
                  <a:srgbClr val="262626"/>
                </a:solidFill>
                <a:latin typeface="Garamond"/>
                <a:ea typeface="Garamond"/>
                <a:cs typeface="Garamond"/>
                <a:sym typeface="Garamond"/>
              </a:defRPr>
            </a:lvl2pPr>
            <a:lvl3pPr indent="-360044" lvl="2" marL="1371600" marR="0" rtl="0" algn="l">
              <a:spcBef>
                <a:spcPts val="600"/>
              </a:spcBef>
              <a:spcAft>
                <a:spcPts val="0"/>
              </a:spcAft>
              <a:buClr>
                <a:schemeClr val="accent1"/>
              </a:buClr>
              <a:buSzPts val="2070"/>
              <a:buFont typeface="Arial"/>
              <a:buChar char="•"/>
              <a:defRPr b="0" i="0" sz="1800" u="none" cap="none" strike="noStrike">
                <a:solidFill>
                  <a:srgbClr val="262626"/>
                </a:solidFill>
                <a:latin typeface="Garamond"/>
                <a:ea typeface="Garamond"/>
                <a:cs typeface="Garamond"/>
                <a:sym typeface="Garamond"/>
              </a:defRPr>
            </a:lvl3pPr>
            <a:lvl4pPr indent="-345439" lvl="3" marL="1828800" marR="0" rtl="0" algn="l">
              <a:spcBef>
                <a:spcPts val="600"/>
              </a:spcBef>
              <a:spcAft>
                <a:spcPts val="0"/>
              </a:spcAft>
              <a:buClr>
                <a:schemeClr val="accent1"/>
              </a:buClr>
              <a:buSzPts val="1840"/>
              <a:buFont typeface="Arial"/>
              <a:buChar char="•"/>
              <a:defRPr b="0" i="0" sz="1600" u="none" cap="none" strike="noStrike">
                <a:solidFill>
                  <a:srgbClr val="262626"/>
                </a:solidFill>
                <a:latin typeface="Garamond"/>
                <a:ea typeface="Garamond"/>
                <a:cs typeface="Garamond"/>
                <a:sym typeface="Garamond"/>
              </a:defRPr>
            </a:lvl4pPr>
            <a:lvl5pPr indent="-330835" lvl="4" marL="22860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5pPr>
            <a:lvl6pPr indent="-330835" lvl="5" marL="27432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6pPr>
            <a:lvl7pPr indent="-330835" lvl="6" marL="32004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7pPr>
            <a:lvl8pPr indent="-330834" lvl="7" marL="36576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8pPr>
            <a:lvl9pPr indent="-330834" lvl="8" marL="4114800" marR="0" rtl="0" algn="l">
              <a:spcBef>
                <a:spcPts val="600"/>
              </a:spcBef>
              <a:spcAft>
                <a:spcPts val="60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9pPr>
          </a:lstStyle>
          <a:p/>
        </p:txBody>
      </p:sp>
      <p:sp>
        <p:nvSpPr>
          <p:cNvPr id="13" name="Google Shape;13;p2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a:solidFill>
                  <a:schemeClr val="dk1"/>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4" name="Google Shape;14;p2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a:solidFill>
                  <a:schemeClr val="dk1"/>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5" name="Google Shape;15;p2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a:solidFill>
                  <a:schemeClr val="dk1"/>
                </a:solidFill>
                <a:latin typeface="Garamond"/>
                <a:ea typeface="Garamond"/>
                <a:cs typeface="Garamond"/>
                <a:sym typeface="Garamond"/>
              </a:defRPr>
            </a:lvl1pPr>
            <a:lvl2pPr indent="0" lvl="1" marL="0" marR="0" rtl="0" algn="r">
              <a:spcBef>
                <a:spcPts val="0"/>
              </a:spcBef>
              <a:buNone/>
              <a:defRPr b="0" i="0" sz="1000" u="none">
                <a:solidFill>
                  <a:schemeClr val="dk1"/>
                </a:solidFill>
                <a:latin typeface="Garamond"/>
                <a:ea typeface="Garamond"/>
                <a:cs typeface="Garamond"/>
                <a:sym typeface="Garamond"/>
              </a:defRPr>
            </a:lvl2pPr>
            <a:lvl3pPr indent="0" lvl="2" marL="0" marR="0" rtl="0" algn="r">
              <a:spcBef>
                <a:spcPts val="0"/>
              </a:spcBef>
              <a:buNone/>
              <a:defRPr b="0" i="0" sz="1000" u="none">
                <a:solidFill>
                  <a:schemeClr val="dk1"/>
                </a:solidFill>
                <a:latin typeface="Garamond"/>
                <a:ea typeface="Garamond"/>
                <a:cs typeface="Garamond"/>
                <a:sym typeface="Garamond"/>
              </a:defRPr>
            </a:lvl3pPr>
            <a:lvl4pPr indent="0" lvl="3" marL="0" marR="0" rtl="0" algn="r">
              <a:spcBef>
                <a:spcPts val="0"/>
              </a:spcBef>
              <a:buNone/>
              <a:defRPr b="0" i="0" sz="1000" u="none">
                <a:solidFill>
                  <a:schemeClr val="dk1"/>
                </a:solidFill>
                <a:latin typeface="Garamond"/>
                <a:ea typeface="Garamond"/>
                <a:cs typeface="Garamond"/>
                <a:sym typeface="Garamond"/>
              </a:defRPr>
            </a:lvl4pPr>
            <a:lvl5pPr indent="0" lvl="4" marL="0" marR="0" rtl="0" algn="r">
              <a:spcBef>
                <a:spcPts val="0"/>
              </a:spcBef>
              <a:buNone/>
              <a:defRPr b="0" i="0" sz="1000" u="none">
                <a:solidFill>
                  <a:schemeClr val="dk1"/>
                </a:solidFill>
                <a:latin typeface="Garamond"/>
                <a:ea typeface="Garamond"/>
                <a:cs typeface="Garamond"/>
                <a:sym typeface="Garamond"/>
              </a:defRPr>
            </a:lvl5pPr>
            <a:lvl6pPr indent="0" lvl="5" marL="0" marR="0" rtl="0" algn="r">
              <a:spcBef>
                <a:spcPts val="0"/>
              </a:spcBef>
              <a:buNone/>
              <a:defRPr b="0" i="0" sz="1000" u="none">
                <a:solidFill>
                  <a:schemeClr val="dk1"/>
                </a:solidFill>
                <a:latin typeface="Garamond"/>
                <a:ea typeface="Garamond"/>
                <a:cs typeface="Garamond"/>
                <a:sym typeface="Garamond"/>
              </a:defRPr>
            </a:lvl6pPr>
            <a:lvl7pPr indent="0" lvl="6" marL="0" marR="0" rtl="0" algn="r">
              <a:spcBef>
                <a:spcPts val="0"/>
              </a:spcBef>
              <a:buNone/>
              <a:defRPr b="0" i="0" sz="1000" u="none">
                <a:solidFill>
                  <a:schemeClr val="dk1"/>
                </a:solidFill>
                <a:latin typeface="Garamond"/>
                <a:ea typeface="Garamond"/>
                <a:cs typeface="Garamond"/>
                <a:sym typeface="Garamond"/>
              </a:defRPr>
            </a:lvl7pPr>
            <a:lvl8pPr indent="0" lvl="7" marL="0" marR="0" rtl="0" algn="r">
              <a:spcBef>
                <a:spcPts val="0"/>
              </a:spcBef>
              <a:buNone/>
              <a:defRPr b="0" i="0" sz="1000" u="none">
                <a:solidFill>
                  <a:schemeClr val="dk1"/>
                </a:solidFill>
                <a:latin typeface="Garamond"/>
                <a:ea typeface="Garamond"/>
                <a:cs typeface="Garamond"/>
                <a:sym typeface="Garamond"/>
              </a:defRPr>
            </a:lvl8pPr>
            <a:lvl9pPr indent="0" lvl="8" marL="0" marR="0" rtl="0" algn="r">
              <a:spcBef>
                <a:spcPts val="0"/>
              </a:spcBef>
              <a:buNone/>
              <a:defRPr b="0" i="0" sz="1000" u="non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EC"/>
              <a:t>‹#›</a:t>
            </a:fld>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8.png"/><Relationship Id="rId5" Type="http://schemas.openxmlformats.org/officeDocument/2006/relationships/image" Target="../media/image5.jpg"/><Relationship Id="rId6"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8.jpg"/><Relationship Id="rId4" Type="http://schemas.openxmlformats.org/officeDocument/2006/relationships/image" Target="../media/image9.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jpg"/><Relationship Id="rId4" Type="http://schemas.openxmlformats.org/officeDocument/2006/relationships/image" Target="../media/image14.jpg"/><Relationship Id="rId5" Type="http://schemas.openxmlformats.org/officeDocument/2006/relationships/image" Target="../media/image22.jpg"/><Relationship Id="rId6"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1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
          <p:cNvSpPr txBox="1"/>
          <p:nvPr/>
        </p:nvSpPr>
        <p:spPr>
          <a:xfrm>
            <a:off x="1066800" y="2276946"/>
            <a:ext cx="10058400" cy="230410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es-EC" sz="4800">
                <a:solidFill>
                  <a:srgbClr val="002060"/>
                </a:solidFill>
                <a:latin typeface="Garamond"/>
                <a:ea typeface="Garamond"/>
                <a:cs typeface="Garamond"/>
                <a:sym typeface="Garamond"/>
              </a:rPr>
              <a:t>SOCIALIZACIÓN DE LA LEY ORGÁNICA PARA REGULACIÓN Y CONTROL DEL TABACO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grpSp>
        <p:nvGrpSpPr>
          <p:cNvPr id="160" name="Google Shape;160;p2"/>
          <p:cNvGrpSpPr/>
          <p:nvPr/>
        </p:nvGrpSpPr>
        <p:grpSpPr>
          <a:xfrm>
            <a:off x="3890701" y="790549"/>
            <a:ext cx="8127999" cy="4279164"/>
            <a:chOff x="0" y="580167"/>
            <a:chExt cx="8127999" cy="4279164"/>
          </a:xfrm>
        </p:grpSpPr>
        <p:sp>
          <p:nvSpPr>
            <p:cNvPr id="161" name="Google Shape;161;p2"/>
            <p:cNvSpPr/>
            <p:nvPr/>
          </p:nvSpPr>
          <p:spPr>
            <a:xfrm>
              <a:off x="0" y="580167"/>
              <a:ext cx="6908800" cy="806760"/>
            </a:xfrm>
            <a:prstGeom prst="roundRect">
              <a:avLst>
                <a:gd fmla="val 10000" name="adj"/>
              </a:avLst>
            </a:prstGeom>
            <a:gradFill>
              <a:gsLst>
                <a:gs pos="0">
                  <a:srgbClr val="C2D7CC"/>
                </a:gs>
                <a:gs pos="100000">
                  <a:srgbClr val="7EAF95"/>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
            <p:cNvSpPr txBox="1"/>
            <p:nvPr/>
          </p:nvSpPr>
          <p:spPr>
            <a:xfrm>
              <a:off x="23629" y="603796"/>
              <a:ext cx="5373857" cy="75950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b="1" lang="es-EC" sz="1900">
                  <a:solidFill>
                    <a:schemeClr val="dk1"/>
                  </a:solidFill>
                  <a:latin typeface="Garamond"/>
                  <a:ea typeface="Garamond"/>
                  <a:cs typeface="Garamond"/>
                  <a:sym typeface="Garamond"/>
                </a:rPr>
                <a:t>TITULO PRELIMINAR </a:t>
              </a:r>
              <a:endParaRPr/>
            </a:p>
            <a:p>
              <a:pPr indent="0" lvl="0" marL="0" marR="0" rtl="0" algn="l">
                <a:lnSpc>
                  <a:spcPct val="90000"/>
                </a:lnSpc>
                <a:spcBef>
                  <a:spcPts val="665"/>
                </a:spcBef>
                <a:spcAft>
                  <a:spcPts val="0"/>
                </a:spcAft>
                <a:buClr>
                  <a:schemeClr val="dk1"/>
                </a:buClr>
                <a:buSzPts val="1900"/>
                <a:buFont typeface="Garamond"/>
                <a:buNone/>
              </a:pPr>
              <a:r>
                <a:rPr b="1" lang="es-EC" sz="1900">
                  <a:solidFill>
                    <a:schemeClr val="dk1"/>
                  </a:solidFill>
                  <a:latin typeface="Garamond"/>
                  <a:ea typeface="Garamond"/>
                  <a:cs typeface="Garamond"/>
                  <a:sym typeface="Garamond"/>
                </a:rPr>
                <a:t>Del objeto y ámbito</a:t>
              </a:r>
              <a:endParaRPr b="1" sz="1900">
                <a:solidFill>
                  <a:schemeClr val="dk1"/>
                </a:solidFill>
                <a:latin typeface="Garamond"/>
                <a:ea typeface="Garamond"/>
                <a:cs typeface="Garamond"/>
                <a:sym typeface="Garamond"/>
              </a:endParaRPr>
            </a:p>
          </p:txBody>
        </p:sp>
        <p:sp>
          <p:nvSpPr>
            <p:cNvPr id="163" name="Google Shape;163;p2"/>
            <p:cNvSpPr/>
            <p:nvPr/>
          </p:nvSpPr>
          <p:spPr>
            <a:xfrm>
              <a:off x="609599" y="1700766"/>
              <a:ext cx="6908800" cy="1457799"/>
            </a:xfrm>
            <a:prstGeom prst="roundRect">
              <a:avLst>
                <a:gd fmla="val 10000" name="adj"/>
              </a:avLst>
            </a:prstGeom>
            <a:gradFill>
              <a:gsLst>
                <a:gs pos="0">
                  <a:srgbClr val="C4CCD9"/>
                </a:gs>
                <a:gs pos="100000">
                  <a:srgbClr val="8196B3"/>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
            <p:cNvSpPr txBox="1"/>
            <p:nvPr/>
          </p:nvSpPr>
          <p:spPr>
            <a:xfrm>
              <a:off x="652296" y="1743463"/>
              <a:ext cx="5266236" cy="1372405"/>
            </a:xfrm>
            <a:prstGeom prst="rect">
              <a:avLst/>
            </a:prstGeom>
            <a:noFill/>
            <a:ln>
              <a:noFill/>
            </a:ln>
          </p:spPr>
          <p:txBody>
            <a:bodyPr anchorCtr="0" anchor="ctr" bIns="72375" lIns="72375" spcFirstLastPara="1" rIns="72375" wrap="square" tIns="72375">
              <a:noAutofit/>
            </a:bodyPr>
            <a:lstStyle/>
            <a:p>
              <a:pPr indent="0" lvl="0" marL="0" marR="0" rtl="0" algn="just">
                <a:lnSpc>
                  <a:spcPct val="90000"/>
                </a:lnSpc>
                <a:spcBef>
                  <a:spcPts val="0"/>
                </a:spcBef>
                <a:spcAft>
                  <a:spcPts val="0"/>
                </a:spcAft>
                <a:buClr>
                  <a:schemeClr val="dk1"/>
                </a:buClr>
                <a:buSzPts val="1900"/>
                <a:buFont typeface="Garamond"/>
                <a:buNone/>
              </a:pPr>
              <a:r>
                <a:rPr b="1" lang="es-EC" sz="1900">
                  <a:solidFill>
                    <a:schemeClr val="dk1"/>
                  </a:solidFill>
                  <a:latin typeface="Garamond"/>
                  <a:ea typeface="Garamond"/>
                  <a:cs typeface="Garamond"/>
                  <a:sym typeface="Garamond"/>
                </a:rPr>
                <a:t>Art. 1.- Objeto.- </a:t>
              </a:r>
              <a:r>
                <a:rPr lang="es-EC" sz="1900">
                  <a:solidFill>
                    <a:schemeClr val="dk1"/>
                  </a:solidFill>
                  <a:latin typeface="Garamond"/>
                  <a:ea typeface="Garamond"/>
                  <a:cs typeface="Garamond"/>
                  <a:sym typeface="Garamond"/>
                </a:rPr>
                <a:t>La presente Ley tiene por objeto promover el derecho a la salud de los habitantes de la República del Ecuador, protegiéndolos de las consecuencias del consumo de productos de tabaco y sus efectos nocivos. </a:t>
              </a:r>
              <a:endParaRPr/>
            </a:p>
          </p:txBody>
        </p:sp>
        <p:sp>
          <p:nvSpPr>
            <p:cNvPr id="165" name="Google Shape;165;p2"/>
            <p:cNvSpPr/>
            <p:nvPr/>
          </p:nvSpPr>
          <p:spPr>
            <a:xfrm>
              <a:off x="1219199" y="3401532"/>
              <a:ext cx="6908800" cy="1457799"/>
            </a:xfrm>
            <a:prstGeom prst="roundRect">
              <a:avLst>
                <a:gd fmla="val 10000" name="adj"/>
              </a:avLst>
            </a:prstGeom>
            <a:gradFill>
              <a:gsLst>
                <a:gs pos="0">
                  <a:srgbClr val="DBC3C2"/>
                </a:gs>
                <a:gs pos="100000">
                  <a:srgbClr val="B77E7B"/>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
            <p:cNvSpPr txBox="1"/>
            <p:nvPr/>
          </p:nvSpPr>
          <p:spPr>
            <a:xfrm>
              <a:off x="1261896" y="3444229"/>
              <a:ext cx="5266236" cy="1372405"/>
            </a:xfrm>
            <a:prstGeom prst="rect">
              <a:avLst/>
            </a:prstGeom>
            <a:noFill/>
            <a:ln>
              <a:noFill/>
            </a:ln>
          </p:spPr>
          <p:txBody>
            <a:bodyPr anchorCtr="0" anchor="ctr" bIns="72375" lIns="72375" spcFirstLastPara="1" rIns="72375" wrap="square" tIns="72375">
              <a:noAutofit/>
            </a:bodyPr>
            <a:lstStyle/>
            <a:p>
              <a:pPr indent="0" lvl="0" marL="0" marR="0" rtl="0" algn="just">
                <a:lnSpc>
                  <a:spcPct val="90000"/>
                </a:lnSpc>
                <a:spcBef>
                  <a:spcPts val="0"/>
                </a:spcBef>
                <a:spcAft>
                  <a:spcPts val="0"/>
                </a:spcAft>
                <a:buClr>
                  <a:schemeClr val="dk1"/>
                </a:buClr>
                <a:buSzPts val="1900"/>
                <a:buFont typeface="Garamond"/>
                <a:buNone/>
              </a:pPr>
              <a:r>
                <a:rPr b="1" lang="es-EC" sz="1900">
                  <a:solidFill>
                    <a:schemeClr val="dk1"/>
                  </a:solidFill>
                  <a:latin typeface="Garamond"/>
                  <a:ea typeface="Garamond"/>
                  <a:cs typeface="Garamond"/>
                  <a:sym typeface="Garamond"/>
                </a:rPr>
                <a:t>Art. 2.- Ámbito.- </a:t>
              </a:r>
              <a:r>
                <a:rPr lang="es-EC" sz="1900">
                  <a:solidFill>
                    <a:schemeClr val="dk1"/>
                  </a:solidFill>
                  <a:latin typeface="Garamond"/>
                  <a:ea typeface="Garamond"/>
                  <a:cs typeface="Garamond"/>
                  <a:sym typeface="Garamond"/>
                </a:rPr>
                <a:t>Las disposiciones de la presente Ley son de orden público, de aplicación y observancia obligatorias en todo el territorio nacional. </a:t>
              </a:r>
              <a:endParaRPr/>
            </a:p>
          </p:txBody>
        </p:sp>
        <p:sp>
          <p:nvSpPr>
            <p:cNvPr id="167" name="Google Shape;167;p2"/>
            <p:cNvSpPr/>
            <p:nvPr/>
          </p:nvSpPr>
          <p:spPr>
            <a:xfrm>
              <a:off x="5961230" y="1105498"/>
              <a:ext cx="947569" cy="947569"/>
            </a:xfrm>
            <a:prstGeom prst="downArrow">
              <a:avLst>
                <a:gd fmla="val 55000" name="adj1"/>
                <a:gd fmla="val 45000" name="adj2"/>
              </a:avLst>
            </a:prstGeom>
            <a:solidFill>
              <a:srgbClr val="CDDDD4">
                <a:alpha val="90196"/>
              </a:srgbClr>
            </a:solidFill>
            <a:ln cap="flat" cmpd="sng" w="9525">
              <a:solidFill>
                <a:srgbClr val="CDDDD4">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
            <p:cNvSpPr txBox="1"/>
            <p:nvPr/>
          </p:nvSpPr>
          <p:spPr>
            <a:xfrm>
              <a:off x="6174433" y="1105498"/>
              <a:ext cx="521163" cy="713046"/>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Garamond"/>
                <a:buNone/>
              </a:pPr>
              <a:r>
                <a:t/>
              </a:r>
              <a:endParaRPr sz="3600">
                <a:solidFill>
                  <a:schemeClr val="dk1"/>
                </a:solidFill>
                <a:latin typeface="Garamond"/>
                <a:ea typeface="Garamond"/>
                <a:cs typeface="Garamond"/>
                <a:sym typeface="Garamond"/>
              </a:endParaRPr>
            </a:p>
          </p:txBody>
        </p:sp>
        <p:sp>
          <p:nvSpPr>
            <p:cNvPr id="169" name="Google Shape;169;p2"/>
            <p:cNvSpPr/>
            <p:nvPr/>
          </p:nvSpPr>
          <p:spPr>
            <a:xfrm>
              <a:off x="6570830" y="2796545"/>
              <a:ext cx="947569" cy="947569"/>
            </a:xfrm>
            <a:prstGeom prst="downArrow">
              <a:avLst>
                <a:gd fmla="val 55000" name="adj1"/>
                <a:gd fmla="val 45000" name="adj2"/>
              </a:avLst>
            </a:prstGeom>
            <a:solidFill>
              <a:srgbClr val="CCD4DE">
                <a:alpha val="90196"/>
              </a:srgbClr>
            </a:solidFill>
            <a:ln cap="flat" cmpd="sng" w="9525">
              <a:solidFill>
                <a:srgbClr val="CCD4DE">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
            <p:cNvSpPr txBox="1"/>
            <p:nvPr/>
          </p:nvSpPr>
          <p:spPr>
            <a:xfrm>
              <a:off x="6784033" y="2796545"/>
              <a:ext cx="521163" cy="713046"/>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Garamond"/>
                <a:buNone/>
              </a:pPr>
              <a:r>
                <a:t/>
              </a:r>
              <a:endParaRPr sz="3600">
                <a:solidFill>
                  <a:schemeClr val="dk1"/>
                </a:solidFill>
                <a:latin typeface="Garamond"/>
                <a:ea typeface="Garamond"/>
                <a:cs typeface="Garamond"/>
                <a:sym typeface="Garamond"/>
              </a:endParaRPr>
            </a:p>
          </p:txBody>
        </p:sp>
      </p:grpSp>
      <p:sp>
        <p:nvSpPr>
          <p:cNvPr id="171" name="Google Shape;171;p2"/>
          <p:cNvSpPr txBox="1"/>
          <p:nvPr/>
        </p:nvSpPr>
        <p:spPr>
          <a:xfrm>
            <a:off x="1319516" y="5672481"/>
            <a:ext cx="10058398" cy="40011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s-EC" sz="2000">
                <a:solidFill>
                  <a:schemeClr val="dk1"/>
                </a:solidFill>
                <a:latin typeface="Garamond"/>
                <a:ea typeface="Garamond"/>
                <a:cs typeface="Garamond"/>
                <a:sym typeface="Garamond"/>
              </a:rPr>
              <a:t>El uso del tabaco en manifestaciones ancestrales no se sujeta al contenido de esta Ley.</a:t>
            </a:r>
            <a:endParaRPr/>
          </a:p>
        </p:txBody>
      </p:sp>
      <p:pic>
        <p:nvPicPr>
          <p:cNvPr descr="La sanidad pública financiará tratamientos antitabaco | Sindicato USO" id="172" name="Google Shape;172;p2"/>
          <p:cNvPicPr preferRelativeResize="0"/>
          <p:nvPr/>
        </p:nvPicPr>
        <p:blipFill rotWithShape="1">
          <a:blip r:embed="rId3">
            <a:alphaModFix/>
          </a:blip>
          <a:srcRect b="0" l="0" r="0" t="0"/>
          <a:stretch/>
        </p:blipFill>
        <p:spPr>
          <a:xfrm>
            <a:off x="532434" y="2222338"/>
            <a:ext cx="3727051" cy="212974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
          <p:cNvSpPr txBox="1"/>
          <p:nvPr/>
        </p:nvSpPr>
        <p:spPr>
          <a:xfrm>
            <a:off x="3076796" y="663198"/>
            <a:ext cx="6094070"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s-EC" sz="2800">
                <a:solidFill>
                  <a:schemeClr val="dk1"/>
                </a:solidFill>
                <a:latin typeface="Garamond"/>
                <a:ea typeface="Garamond"/>
                <a:cs typeface="Garamond"/>
                <a:sym typeface="Garamond"/>
              </a:rPr>
              <a:t>TITULO I </a:t>
            </a:r>
            <a:endParaRPr/>
          </a:p>
          <a:p>
            <a:pPr indent="0" lvl="0" marL="0" marR="0" rtl="0" algn="ctr">
              <a:spcBef>
                <a:spcPts val="0"/>
              </a:spcBef>
              <a:spcAft>
                <a:spcPts val="0"/>
              </a:spcAft>
              <a:buNone/>
            </a:pPr>
            <a:r>
              <a:rPr b="1" lang="es-EC" sz="2800">
                <a:solidFill>
                  <a:schemeClr val="dk1"/>
                </a:solidFill>
                <a:latin typeface="Garamond"/>
                <a:ea typeface="Garamond"/>
                <a:cs typeface="Garamond"/>
                <a:sym typeface="Garamond"/>
              </a:rPr>
              <a:t>Del marco institucional</a:t>
            </a:r>
            <a:endParaRPr/>
          </a:p>
        </p:txBody>
      </p:sp>
      <p:pic>
        <p:nvPicPr>
          <p:cNvPr descr="El Estado – Derecho Ecuador" id="178" name="Google Shape;178;p3"/>
          <p:cNvPicPr preferRelativeResize="0"/>
          <p:nvPr/>
        </p:nvPicPr>
        <p:blipFill rotWithShape="1">
          <a:blip r:embed="rId3">
            <a:alphaModFix/>
          </a:blip>
          <a:srcRect b="0" l="0" r="0" t="0"/>
          <a:stretch/>
        </p:blipFill>
        <p:spPr>
          <a:xfrm>
            <a:off x="840567" y="1574868"/>
            <a:ext cx="2243123" cy="1682342"/>
          </a:xfrm>
          <a:prstGeom prst="rect">
            <a:avLst/>
          </a:prstGeom>
          <a:noFill/>
          <a:ln>
            <a:noFill/>
          </a:ln>
        </p:spPr>
      </p:pic>
      <p:sp>
        <p:nvSpPr>
          <p:cNvPr id="179" name="Google Shape;179;p3"/>
          <p:cNvSpPr txBox="1"/>
          <p:nvPr/>
        </p:nvSpPr>
        <p:spPr>
          <a:xfrm>
            <a:off x="3576798" y="2024120"/>
            <a:ext cx="7428423"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C" sz="1800">
                <a:solidFill>
                  <a:srgbClr val="FF0000"/>
                </a:solidFill>
                <a:latin typeface="Garamond"/>
                <a:ea typeface="Garamond"/>
                <a:cs typeface="Garamond"/>
                <a:sym typeface="Garamond"/>
              </a:rPr>
              <a:t>Art. 4.- </a:t>
            </a:r>
            <a:r>
              <a:rPr b="1" lang="es-EC" sz="1800">
                <a:solidFill>
                  <a:schemeClr val="dk1"/>
                </a:solidFill>
                <a:latin typeface="Garamond"/>
                <a:ea typeface="Garamond"/>
                <a:cs typeface="Garamond"/>
                <a:sym typeface="Garamond"/>
              </a:rPr>
              <a:t>Responsabilidad en materia educativa.- </a:t>
            </a:r>
            <a:r>
              <a:rPr lang="es-EC" sz="1800">
                <a:solidFill>
                  <a:schemeClr val="dk1"/>
                </a:solidFill>
                <a:latin typeface="Garamond"/>
                <a:ea typeface="Garamond"/>
                <a:cs typeface="Garamond"/>
                <a:sym typeface="Garamond"/>
              </a:rPr>
              <a:t>El Estado, a través de ministerios sectoriales de educación y salud pública, en coordinación con otras instituciones públicas y privadas, desarrollará actividades deportivas, de promoción de la salud, educativas y de prevención, detección e intervención del consumo de productos de tabaco y sus efectos nocivos.</a:t>
            </a:r>
            <a:endParaRPr/>
          </a:p>
        </p:txBody>
      </p:sp>
      <p:sp>
        <p:nvSpPr>
          <p:cNvPr id="180" name="Google Shape;180;p3"/>
          <p:cNvSpPr txBox="1"/>
          <p:nvPr/>
        </p:nvSpPr>
        <p:spPr>
          <a:xfrm>
            <a:off x="840567" y="3264803"/>
            <a:ext cx="30672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C" sz="1800">
                <a:solidFill>
                  <a:schemeClr val="dk1"/>
                </a:solidFill>
                <a:latin typeface="Garamond"/>
                <a:ea typeface="Garamond"/>
                <a:cs typeface="Garamond"/>
                <a:sym typeface="Garamond"/>
              </a:rPr>
              <a:t>Responsabilidades del Estado</a:t>
            </a:r>
            <a:endParaRPr b="1" sz="1800">
              <a:solidFill>
                <a:schemeClr val="dk1"/>
              </a:solidFill>
              <a:latin typeface="Garamond"/>
              <a:ea typeface="Garamond"/>
              <a:cs typeface="Garamond"/>
              <a:sym typeface="Garamond"/>
            </a:endParaRPr>
          </a:p>
        </p:txBody>
      </p:sp>
      <p:sp>
        <p:nvSpPr>
          <p:cNvPr id="181" name="Google Shape;181;p3"/>
          <p:cNvSpPr txBox="1"/>
          <p:nvPr/>
        </p:nvSpPr>
        <p:spPr>
          <a:xfrm>
            <a:off x="3477910" y="1576229"/>
            <a:ext cx="805433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s-EC" sz="1800">
                <a:solidFill>
                  <a:schemeClr val="dk1"/>
                </a:solidFill>
                <a:latin typeface="Garamond"/>
                <a:ea typeface="Garamond"/>
                <a:cs typeface="Garamond"/>
                <a:sym typeface="Garamond"/>
              </a:rPr>
              <a:t>Art. 3 al Art. 7</a:t>
            </a:r>
            <a:endParaRPr b="1" i="1" sz="1800">
              <a:solidFill>
                <a:schemeClr val="dk1"/>
              </a:solidFill>
              <a:latin typeface="Garamond"/>
              <a:ea typeface="Garamond"/>
              <a:cs typeface="Garamond"/>
              <a:sym typeface="Garamond"/>
            </a:endParaRPr>
          </a:p>
        </p:txBody>
      </p:sp>
      <p:sp>
        <p:nvSpPr>
          <p:cNvPr id="182" name="Google Shape;182;p3"/>
          <p:cNvSpPr txBox="1"/>
          <p:nvPr/>
        </p:nvSpPr>
        <p:spPr>
          <a:xfrm>
            <a:off x="428482" y="1243973"/>
            <a:ext cx="306729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C" sz="1800">
                <a:solidFill>
                  <a:schemeClr val="dk1"/>
                </a:solidFill>
                <a:latin typeface="Garamond"/>
                <a:ea typeface="Garamond"/>
                <a:cs typeface="Garamond"/>
                <a:sym typeface="Garamond"/>
              </a:rPr>
              <a:t>Capitulo Primero</a:t>
            </a:r>
            <a:endParaRPr b="1" sz="1800">
              <a:solidFill>
                <a:schemeClr val="dk1"/>
              </a:solidFill>
              <a:latin typeface="Garamond"/>
              <a:ea typeface="Garamond"/>
              <a:cs typeface="Garamond"/>
              <a:sym typeface="Garamond"/>
            </a:endParaRPr>
          </a:p>
        </p:txBody>
      </p:sp>
      <p:pic>
        <p:nvPicPr>
          <p:cNvPr descr="MSP - Ministerio de Salud Publica Logo PNG Vector (EPS) Free Download" id="183" name="Google Shape;183;p3"/>
          <p:cNvPicPr preferRelativeResize="0"/>
          <p:nvPr/>
        </p:nvPicPr>
        <p:blipFill rotWithShape="1">
          <a:blip r:embed="rId4">
            <a:alphaModFix/>
          </a:blip>
          <a:srcRect b="0" l="0" r="0" t="0"/>
          <a:stretch/>
        </p:blipFill>
        <p:spPr>
          <a:xfrm>
            <a:off x="8907821" y="3886719"/>
            <a:ext cx="2476500" cy="1838325"/>
          </a:xfrm>
          <a:prstGeom prst="rect">
            <a:avLst/>
          </a:prstGeom>
          <a:noFill/>
          <a:ln>
            <a:noFill/>
          </a:ln>
        </p:spPr>
      </p:pic>
      <p:sp>
        <p:nvSpPr>
          <p:cNvPr id="184" name="Google Shape;184;p3"/>
          <p:cNvSpPr txBox="1"/>
          <p:nvPr/>
        </p:nvSpPr>
        <p:spPr>
          <a:xfrm>
            <a:off x="8612425" y="3517387"/>
            <a:ext cx="306729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C" sz="1800">
                <a:solidFill>
                  <a:schemeClr val="dk1"/>
                </a:solidFill>
                <a:latin typeface="Garamond"/>
                <a:ea typeface="Garamond"/>
                <a:cs typeface="Garamond"/>
                <a:sym typeface="Garamond"/>
              </a:rPr>
              <a:t>Capitulo Segundo</a:t>
            </a:r>
            <a:endParaRPr b="1" sz="1800">
              <a:solidFill>
                <a:schemeClr val="dk1"/>
              </a:solidFill>
              <a:latin typeface="Garamond"/>
              <a:ea typeface="Garamond"/>
              <a:cs typeface="Garamond"/>
              <a:sym typeface="Garamond"/>
            </a:endParaRPr>
          </a:p>
        </p:txBody>
      </p:sp>
      <p:sp>
        <p:nvSpPr>
          <p:cNvPr id="185" name="Google Shape;185;p3"/>
          <p:cNvSpPr txBox="1"/>
          <p:nvPr/>
        </p:nvSpPr>
        <p:spPr>
          <a:xfrm>
            <a:off x="8656215" y="5767383"/>
            <a:ext cx="30672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C" sz="1800">
                <a:solidFill>
                  <a:schemeClr val="dk1"/>
                </a:solidFill>
                <a:latin typeface="Garamond"/>
                <a:ea typeface="Garamond"/>
                <a:cs typeface="Garamond"/>
                <a:sym typeface="Garamond"/>
              </a:rPr>
              <a:t>Autoridad Sanitaria Nacional</a:t>
            </a:r>
            <a:endParaRPr b="1" sz="1800">
              <a:solidFill>
                <a:schemeClr val="dk1"/>
              </a:solidFill>
              <a:latin typeface="Garamond"/>
              <a:ea typeface="Garamond"/>
              <a:cs typeface="Garamond"/>
              <a:sym typeface="Garamond"/>
            </a:endParaRPr>
          </a:p>
        </p:txBody>
      </p:sp>
      <p:sp>
        <p:nvSpPr>
          <p:cNvPr id="186" name="Google Shape;186;p3"/>
          <p:cNvSpPr/>
          <p:nvPr/>
        </p:nvSpPr>
        <p:spPr>
          <a:xfrm>
            <a:off x="201951" y="4281595"/>
            <a:ext cx="1950269" cy="913886"/>
          </a:xfrm>
          <a:prstGeom prst="homePlate">
            <a:avLst>
              <a:gd fmla="val 50000" name="adj"/>
            </a:avLst>
          </a:prstGeom>
          <a:solidFill>
            <a:srgbClr val="CCCCFF"/>
          </a:solidFill>
          <a:ln cap="flat" cmpd="sng" w="15875">
            <a:solidFill>
              <a:srgbClr val="3740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C" sz="1800">
                <a:solidFill>
                  <a:schemeClr val="dk1"/>
                </a:solidFill>
                <a:latin typeface="Garamond"/>
                <a:ea typeface="Garamond"/>
                <a:cs typeface="Garamond"/>
                <a:sym typeface="Garamond"/>
              </a:rPr>
              <a:t>Art. 8.- </a:t>
            </a:r>
            <a:r>
              <a:rPr lang="es-EC" sz="1800">
                <a:solidFill>
                  <a:srgbClr val="002060"/>
                </a:solidFill>
                <a:latin typeface="Garamond"/>
                <a:ea typeface="Garamond"/>
                <a:cs typeface="Garamond"/>
                <a:sym typeface="Garamond"/>
              </a:rPr>
              <a:t>Ejecución</a:t>
            </a:r>
            <a:endParaRPr/>
          </a:p>
        </p:txBody>
      </p:sp>
      <p:sp>
        <p:nvSpPr>
          <p:cNvPr id="187" name="Google Shape;187;p3"/>
          <p:cNvSpPr/>
          <p:nvPr/>
        </p:nvSpPr>
        <p:spPr>
          <a:xfrm>
            <a:off x="2276879" y="4281595"/>
            <a:ext cx="1950269" cy="913886"/>
          </a:xfrm>
          <a:prstGeom prst="homePlate">
            <a:avLst>
              <a:gd fmla="val 50000" name="adj"/>
            </a:avLst>
          </a:prstGeom>
          <a:solidFill>
            <a:srgbClr val="CCCCFF"/>
          </a:solidFill>
          <a:ln cap="flat" cmpd="sng" w="15875">
            <a:solidFill>
              <a:srgbClr val="3740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C" sz="1800">
                <a:solidFill>
                  <a:schemeClr val="dk1"/>
                </a:solidFill>
                <a:latin typeface="Garamond"/>
                <a:ea typeface="Garamond"/>
                <a:cs typeface="Garamond"/>
                <a:sym typeface="Garamond"/>
              </a:rPr>
              <a:t>Art. 9.- </a:t>
            </a:r>
            <a:r>
              <a:rPr lang="es-EC" sz="1800">
                <a:solidFill>
                  <a:srgbClr val="002060"/>
                </a:solidFill>
                <a:latin typeface="Garamond"/>
                <a:ea typeface="Garamond"/>
                <a:cs typeface="Garamond"/>
                <a:sym typeface="Garamond"/>
              </a:rPr>
              <a:t>Coordinación</a:t>
            </a:r>
            <a:endParaRPr sz="1800">
              <a:solidFill>
                <a:schemeClr val="dk1"/>
              </a:solidFill>
              <a:latin typeface="Garamond"/>
              <a:ea typeface="Garamond"/>
              <a:cs typeface="Garamond"/>
              <a:sym typeface="Garamond"/>
            </a:endParaRPr>
          </a:p>
        </p:txBody>
      </p:sp>
      <p:sp>
        <p:nvSpPr>
          <p:cNvPr id="188" name="Google Shape;188;p3"/>
          <p:cNvSpPr/>
          <p:nvPr/>
        </p:nvSpPr>
        <p:spPr>
          <a:xfrm>
            <a:off x="4487193" y="4293170"/>
            <a:ext cx="1950269" cy="913886"/>
          </a:xfrm>
          <a:prstGeom prst="homePlate">
            <a:avLst>
              <a:gd fmla="val 50000" name="adj"/>
            </a:avLst>
          </a:prstGeom>
          <a:solidFill>
            <a:srgbClr val="CCCCFF"/>
          </a:solidFill>
          <a:ln cap="flat" cmpd="sng" w="15875">
            <a:solidFill>
              <a:srgbClr val="3740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C" sz="1800">
                <a:solidFill>
                  <a:schemeClr val="dk1"/>
                </a:solidFill>
                <a:latin typeface="Garamond"/>
                <a:ea typeface="Garamond"/>
                <a:cs typeface="Garamond"/>
                <a:sym typeface="Garamond"/>
              </a:rPr>
              <a:t>Art. 10.- </a:t>
            </a:r>
            <a:r>
              <a:rPr lang="es-EC" sz="1800">
                <a:solidFill>
                  <a:srgbClr val="002060"/>
                </a:solidFill>
                <a:latin typeface="Garamond"/>
                <a:ea typeface="Garamond"/>
                <a:cs typeface="Garamond"/>
                <a:sym typeface="Garamond"/>
              </a:rPr>
              <a:t>Competencias</a:t>
            </a:r>
            <a:endParaRPr/>
          </a:p>
        </p:txBody>
      </p:sp>
      <p:pic>
        <p:nvPicPr>
          <p:cNvPr descr="ORGANIZACIONES DE DESARROLLO PUBLICAS Y PRIVADAS" id="189" name="Google Shape;189;p3"/>
          <p:cNvPicPr preferRelativeResize="0"/>
          <p:nvPr/>
        </p:nvPicPr>
        <p:blipFill rotWithShape="1">
          <a:blip r:embed="rId5">
            <a:alphaModFix/>
          </a:blip>
          <a:srcRect b="1714" l="0" r="0" t="1862"/>
          <a:stretch/>
        </p:blipFill>
        <p:spPr>
          <a:xfrm>
            <a:off x="2160393" y="5274040"/>
            <a:ext cx="1846594" cy="1001562"/>
          </a:xfrm>
          <a:prstGeom prst="rect">
            <a:avLst/>
          </a:prstGeom>
          <a:noFill/>
          <a:ln>
            <a:noFill/>
          </a:ln>
        </p:spPr>
      </p:pic>
      <p:pic>
        <p:nvPicPr>
          <p:cNvPr descr="Control del tabaco - OPS/OMS | Organización Panamericana de la Salud" id="190" name="Google Shape;190;p3"/>
          <p:cNvPicPr preferRelativeResize="0"/>
          <p:nvPr/>
        </p:nvPicPr>
        <p:blipFill rotWithShape="1">
          <a:blip r:embed="rId6">
            <a:alphaModFix/>
          </a:blip>
          <a:srcRect b="0" l="0" r="0" t="0"/>
          <a:stretch/>
        </p:blipFill>
        <p:spPr>
          <a:xfrm>
            <a:off x="4485781" y="5313172"/>
            <a:ext cx="1846594" cy="923297"/>
          </a:xfrm>
          <a:prstGeom prst="rect">
            <a:avLst/>
          </a:prstGeom>
          <a:noFill/>
          <a:ln>
            <a:noFill/>
          </a:ln>
        </p:spPr>
      </p:pic>
      <p:sp>
        <p:nvSpPr>
          <p:cNvPr id="191" name="Google Shape;191;p3"/>
          <p:cNvSpPr/>
          <p:nvPr/>
        </p:nvSpPr>
        <p:spPr>
          <a:xfrm>
            <a:off x="6697507" y="4281595"/>
            <a:ext cx="2074928" cy="913886"/>
          </a:xfrm>
          <a:prstGeom prst="homePlate">
            <a:avLst>
              <a:gd fmla="val 50000" name="adj"/>
            </a:avLst>
          </a:prstGeom>
          <a:solidFill>
            <a:srgbClr val="CCCCFF"/>
          </a:solidFill>
          <a:ln cap="flat" cmpd="sng" w="15875">
            <a:solidFill>
              <a:srgbClr val="3740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C" sz="1800">
                <a:solidFill>
                  <a:schemeClr val="dk1"/>
                </a:solidFill>
                <a:latin typeface="Garamond"/>
                <a:ea typeface="Garamond"/>
                <a:cs typeface="Garamond"/>
                <a:sym typeface="Garamond"/>
              </a:rPr>
              <a:t>Art. 11.- </a:t>
            </a:r>
            <a:r>
              <a:rPr lang="es-EC" sz="1800">
                <a:solidFill>
                  <a:srgbClr val="002060"/>
                </a:solidFill>
                <a:latin typeface="Garamond"/>
                <a:ea typeface="Garamond"/>
                <a:cs typeface="Garamond"/>
                <a:sym typeface="Garamond"/>
              </a:rPr>
              <a:t>Programa contra el tabaquismo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10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
          <p:cNvSpPr txBox="1"/>
          <p:nvPr/>
        </p:nvSpPr>
        <p:spPr>
          <a:xfrm>
            <a:off x="3874238" y="1065546"/>
            <a:ext cx="7480796" cy="1661993"/>
          </a:xfrm>
          <a:prstGeom prst="rect">
            <a:avLst/>
          </a:prstGeom>
          <a:solidFill>
            <a:srgbClr val="F0D4D1"/>
          </a:solid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C" sz="1700">
                <a:solidFill>
                  <a:srgbClr val="FF0000"/>
                </a:solidFill>
                <a:latin typeface="Garamond"/>
                <a:ea typeface="Garamond"/>
                <a:cs typeface="Garamond"/>
                <a:sym typeface="Garamond"/>
              </a:rPr>
              <a:t>Art. 13.- </a:t>
            </a:r>
            <a:r>
              <a:rPr b="1" lang="es-EC" sz="1700">
                <a:solidFill>
                  <a:schemeClr val="dk1"/>
                </a:solidFill>
                <a:latin typeface="Garamond"/>
                <a:ea typeface="Garamond"/>
                <a:cs typeface="Garamond"/>
                <a:sym typeface="Garamond"/>
              </a:rPr>
              <a:t>Campañas de comunicación y educación.- </a:t>
            </a:r>
            <a:r>
              <a:rPr lang="es-EC" sz="1700">
                <a:solidFill>
                  <a:schemeClr val="dk1"/>
                </a:solidFill>
                <a:latin typeface="Garamond"/>
                <a:ea typeface="Garamond"/>
                <a:cs typeface="Garamond"/>
                <a:sym typeface="Garamond"/>
              </a:rPr>
              <a:t>La Autoridad Sanitaria Nacional y la Autoridad Educativa Nacional, en coordinación con instituciones públicas, privadas y de la sociedad civil, programarán y ejecutarán actividades y campañas de información, comunicación y educación y hará uso de todos los recursos y herramientas tecnológicas para prevenir el consumo de tabaco por parte de la población y, en particular, de las y los trabajadores, la niñez y la juventud.</a:t>
            </a:r>
            <a:endParaRPr/>
          </a:p>
        </p:txBody>
      </p:sp>
      <p:pic>
        <p:nvPicPr>
          <p:cNvPr descr="Seis estrategias efectivas para prevenir el consumo de tabaco – Business  Empresarial" id="197" name="Google Shape;197;p4"/>
          <p:cNvPicPr preferRelativeResize="0"/>
          <p:nvPr/>
        </p:nvPicPr>
        <p:blipFill rotWithShape="1">
          <a:blip r:embed="rId3">
            <a:alphaModFix/>
          </a:blip>
          <a:srcRect b="0" l="0" r="0" t="0"/>
          <a:stretch/>
        </p:blipFill>
        <p:spPr>
          <a:xfrm>
            <a:off x="814299" y="1022484"/>
            <a:ext cx="2737066" cy="1841655"/>
          </a:xfrm>
          <a:prstGeom prst="rect">
            <a:avLst/>
          </a:prstGeom>
          <a:noFill/>
          <a:ln>
            <a:noFill/>
          </a:ln>
        </p:spPr>
      </p:pic>
      <p:sp>
        <p:nvSpPr>
          <p:cNvPr id="198" name="Google Shape;198;p4"/>
          <p:cNvSpPr txBox="1"/>
          <p:nvPr/>
        </p:nvSpPr>
        <p:spPr>
          <a:xfrm>
            <a:off x="598065" y="656520"/>
            <a:ext cx="306729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C" sz="2000">
                <a:solidFill>
                  <a:schemeClr val="dk1"/>
                </a:solidFill>
                <a:latin typeface="Garamond"/>
                <a:ea typeface="Garamond"/>
                <a:cs typeface="Garamond"/>
                <a:sym typeface="Garamond"/>
              </a:rPr>
              <a:t>Capitulo Tercero</a:t>
            </a:r>
            <a:endParaRPr b="1" sz="2000">
              <a:solidFill>
                <a:schemeClr val="dk1"/>
              </a:solidFill>
              <a:latin typeface="Garamond"/>
              <a:ea typeface="Garamond"/>
              <a:cs typeface="Garamond"/>
              <a:sym typeface="Garamond"/>
            </a:endParaRPr>
          </a:p>
        </p:txBody>
      </p:sp>
      <p:sp>
        <p:nvSpPr>
          <p:cNvPr id="199" name="Google Shape;199;p4"/>
          <p:cNvSpPr txBox="1"/>
          <p:nvPr/>
        </p:nvSpPr>
        <p:spPr>
          <a:xfrm>
            <a:off x="598065" y="2819499"/>
            <a:ext cx="32761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C" sz="1800">
                <a:solidFill>
                  <a:schemeClr val="dk1"/>
                </a:solidFill>
                <a:latin typeface="Garamond"/>
                <a:ea typeface="Garamond"/>
                <a:cs typeface="Garamond"/>
                <a:sym typeface="Garamond"/>
              </a:rPr>
              <a:t>Educación para la prevención </a:t>
            </a:r>
            <a:endParaRPr b="1" sz="1800">
              <a:solidFill>
                <a:schemeClr val="dk1"/>
              </a:solidFill>
              <a:latin typeface="Garamond"/>
              <a:ea typeface="Garamond"/>
              <a:cs typeface="Garamond"/>
              <a:sym typeface="Garamond"/>
            </a:endParaRPr>
          </a:p>
        </p:txBody>
      </p:sp>
      <p:sp>
        <p:nvSpPr>
          <p:cNvPr id="200" name="Google Shape;200;p4"/>
          <p:cNvSpPr txBox="1"/>
          <p:nvPr/>
        </p:nvSpPr>
        <p:spPr>
          <a:xfrm>
            <a:off x="3292033" y="2907570"/>
            <a:ext cx="6094070"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s-EC" sz="2800">
                <a:solidFill>
                  <a:schemeClr val="dk1"/>
                </a:solidFill>
                <a:latin typeface="Garamond"/>
                <a:ea typeface="Garamond"/>
                <a:cs typeface="Garamond"/>
                <a:sym typeface="Garamond"/>
              </a:rPr>
              <a:t>TITULO II</a:t>
            </a:r>
            <a:endParaRPr/>
          </a:p>
          <a:p>
            <a:pPr indent="0" lvl="0" marL="0" marR="0" rtl="0" algn="ctr">
              <a:spcBef>
                <a:spcPts val="0"/>
              </a:spcBef>
              <a:spcAft>
                <a:spcPts val="0"/>
              </a:spcAft>
              <a:buNone/>
            </a:pPr>
            <a:r>
              <a:rPr b="1" lang="es-EC" sz="2800">
                <a:solidFill>
                  <a:schemeClr val="dk1"/>
                </a:solidFill>
                <a:latin typeface="Garamond"/>
                <a:ea typeface="Garamond"/>
                <a:cs typeface="Garamond"/>
                <a:sym typeface="Garamond"/>
              </a:rPr>
              <a:t>De la comercialización</a:t>
            </a:r>
            <a:endParaRPr/>
          </a:p>
        </p:txBody>
      </p:sp>
      <p:sp>
        <p:nvSpPr>
          <p:cNvPr id="201" name="Google Shape;201;p4"/>
          <p:cNvSpPr txBox="1"/>
          <p:nvPr/>
        </p:nvSpPr>
        <p:spPr>
          <a:xfrm>
            <a:off x="3379808" y="3948538"/>
            <a:ext cx="508128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C" sz="2000">
                <a:solidFill>
                  <a:srgbClr val="002060"/>
                </a:solidFill>
                <a:latin typeface="Garamond"/>
                <a:ea typeface="Garamond"/>
                <a:cs typeface="Garamond"/>
                <a:sym typeface="Garamond"/>
              </a:rPr>
              <a:t>De las prohibiciones y restricciones para la venta</a:t>
            </a:r>
            <a:endParaRPr/>
          </a:p>
        </p:txBody>
      </p:sp>
      <p:sp>
        <p:nvSpPr>
          <p:cNvPr id="202" name="Google Shape;202;p4"/>
          <p:cNvSpPr/>
          <p:nvPr/>
        </p:nvSpPr>
        <p:spPr>
          <a:xfrm>
            <a:off x="598065" y="3756260"/>
            <a:ext cx="2781743" cy="767046"/>
          </a:xfrm>
          <a:prstGeom prst="rightArrow">
            <a:avLst>
              <a:gd fmla="val 50000" name="adj1"/>
              <a:gd fmla="val 50000" name="adj2"/>
            </a:avLst>
          </a:prstGeom>
          <a:solidFill>
            <a:srgbClr val="D6E2ED"/>
          </a:solidFill>
          <a:ln cap="flat" cmpd="sng" w="15875">
            <a:solidFill>
              <a:srgbClr val="3740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s-EC" sz="1800">
                <a:solidFill>
                  <a:schemeClr val="dk1"/>
                </a:solidFill>
                <a:latin typeface="Garamond"/>
                <a:ea typeface="Garamond"/>
                <a:cs typeface="Garamond"/>
                <a:sym typeface="Garamond"/>
              </a:rPr>
              <a:t>CAPITULO PRIMERO</a:t>
            </a:r>
            <a:endParaRPr/>
          </a:p>
        </p:txBody>
      </p:sp>
      <p:grpSp>
        <p:nvGrpSpPr>
          <p:cNvPr id="203" name="Google Shape;203;p4"/>
          <p:cNvGrpSpPr/>
          <p:nvPr/>
        </p:nvGrpSpPr>
        <p:grpSpPr>
          <a:xfrm>
            <a:off x="3051503" y="4737392"/>
            <a:ext cx="8659458" cy="1208296"/>
            <a:chOff x="2538" y="388744"/>
            <a:chExt cx="8659458" cy="1208296"/>
          </a:xfrm>
        </p:grpSpPr>
        <p:sp>
          <p:nvSpPr>
            <p:cNvPr id="204" name="Google Shape;204;p4"/>
            <p:cNvSpPr/>
            <p:nvPr/>
          </p:nvSpPr>
          <p:spPr>
            <a:xfrm>
              <a:off x="2538" y="388744"/>
              <a:ext cx="2013827" cy="1208296"/>
            </a:xfrm>
            <a:prstGeom prst="rect">
              <a:avLst/>
            </a:prstGeom>
            <a:gradFill>
              <a:gsLst>
                <a:gs pos="0">
                  <a:srgbClr val="D0D7C0"/>
                </a:gs>
                <a:gs pos="100000">
                  <a:srgbClr val="A2B179"/>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
            <p:cNvSpPr txBox="1"/>
            <p:nvPr/>
          </p:nvSpPr>
          <p:spPr>
            <a:xfrm>
              <a:off x="2538" y="388744"/>
              <a:ext cx="2013827" cy="1208296"/>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lang="es-EC" sz="2000">
                  <a:solidFill>
                    <a:schemeClr val="dk1"/>
                  </a:solidFill>
                  <a:latin typeface="Garamond"/>
                  <a:ea typeface="Garamond"/>
                  <a:cs typeface="Garamond"/>
                  <a:sym typeface="Garamond"/>
                </a:rPr>
                <a:t>Art. 14.- Prohibiciones respecto de menores de edad</a:t>
              </a:r>
              <a:endParaRPr sz="2000">
                <a:solidFill>
                  <a:schemeClr val="dk1"/>
                </a:solidFill>
                <a:latin typeface="Garamond"/>
                <a:ea typeface="Garamond"/>
                <a:cs typeface="Garamond"/>
                <a:sym typeface="Garamond"/>
              </a:endParaRPr>
            </a:p>
          </p:txBody>
        </p:sp>
        <p:sp>
          <p:nvSpPr>
            <p:cNvPr id="206" name="Google Shape;206;p4"/>
            <p:cNvSpPr/>
            <p:nvPr/>
          </p:nvSpPr>
          <p:spPr>
            <a:xfrm>
              <a:off x="2217748" y="388744"/>
              <a:ext cx="2013827" cy="1208296"/>
            </a:xfrm>
            <a:prstGeom prst="rect">
              <a:avLst/>
            </a:pr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4"/>
            <p:cNvSpPr txBox="1"/>
            <p:nvPr/>
          </p:nvSpPr>
          <p:spPr>
            <a:xfrm>
              <a:off x="2217748" y="388744"/>
              <a:ext cx="2013827" cy="1208296"/>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lang="es-EC" sz="2000">
                  <a:solidFill>
                    <a:schemeClr val="dk1"/>
                  </a:solidFill>
                  <a:latin typeface="Garamond"/>
                  <a:ea typeface="Garamond"/>
                  <a:cs typeface="Garamond"/>
                  <a:sym typeface="Garamond"/>
                </a:rPr>
                <a:t>Art. 15.- Prohibición de venta</a:t>
              </a:r>
              <a:endParaRPr sz="2000">
                <a:solidFill>
                  <a:schemeClr val="dk1"/>
                </a:solidFill>
                <a:latin typeface="Garamond"/>
                <a:ea typeface="Garamond"/>
                <a:cs typeface="Garamond"/>
                <a:sym typeface="Garamond"/>
              </a:endParaRPr>
            </a:p>
          </p:txBody>
        </p:sp>
        <p:sp>
          <p:nvSpPr>
            <p:cNvPr id="208" name="Google Shape;208;p4"/>
            <p:cNvSpPr/>
            <p:nvPr/>
          </p:nvSpPr>
          <p:spPr>
            <a:xfrm>
              <a:off x="4432958" y="388744"/>
              <a:ext cx="2013827" cy="1208296"/>
            </a:xfrm>
            <a:prstGeom prst="rect">
              <a:avLst/>
            </a:prstGeom>
            <a:gradFill>
              <a:gsLst>
                <a:gs pos="0">
                  <a:srgbClr val="D0D7C0"/>
                </a:gs>
                <a:gs pos="100000">
                  <a:srgbClr val="A2B179"/>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4"/>
            <p:cNvSpPr txBox="1"/>
            <p:nvPr/>
          </p:nvSpPr>
          <p:spPr>
            <a:xfrm>
              <a:off x="4432958" y="388744"/>
              <a:ext cx="2013827" cy="1208296"/>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lang="es-EC" sz="2000">
                  <a:solidFill>
                    <a:schemeClr val="dk1"/>
                  </a:solidFill>
                  <a:latin typeface="Garamond"/>
                  <a:ea typeface="Garamond"/>
                  <a:cs typeface="Garamond"/>
                  <a:sym typeface="Garamond"/>
                </a:rPr>
                <a:t>Art. 16.- Restricciones para la venta</a:t>
              </a:r>
              <a:endParaRPr sz="2000">
                <a:solidFill>
                  <a:schemeClr val="dk1"/>
                </a:solidFill>
                <a:latin typeface="Garamond"/>
                <a:ea typeface="Garamond"/>
                <a:cs typeface="Garamond"/>
                <a:sym typeface="Garamond"/>
              </a:endParaRPr>
            </a:p>
          </p:txBody>
        </p:sp>
        <p:sp>
          <p:nvSpPr>
            <p:cNvPr id="210" name="Google Shape;210;p4"/>
            <p:cNvSpPr/>
            <p:nvPr/>
          </p:nvSpPr>
          <p:spPr>
            <a:xfrm>
              <a:off x="6648169" y="388744"/>
              <a:ext cx="2013827" cy="1208296"/>
            </a:xfrm>
            <a:prstGeom prst="rect">
              <a:avLst/>
            </a:pr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
            <p:cNvSpPr txBox="1"/>
            <p:nvPr/>
          </p:nvSpPr>
          <p:spPr>
            <a:xfrm>
              <a:off x="6648169" y="388744"/>
              <a:ext cx="2013827" cy="1208296"/>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lang="es-EC" sz="2000">
                  <a:solidFill>
                    <a:schemeClr val="dk1"/>
                  </a:solidFill>
                  <a:latin typeface="Garamond"/>
                  <a:ea typeface="Garamond"/>
                  <a:cs typeface="Garamond"/>
                  <a:sym typeface="Garamond"/>
                </a:rPr>
                <a:t>Art. 17.- Prohibición de distribución gratuita</a:t>
              </a:r>
              <a:endParaRPr sz="2000">
                <a:solidFill>
                  <a:schemeClr val="dk1"/>
                </a:solidFill>
                <a:latin typeface="Garamond"/>
                <a:ea typeface="Garamond"/>
                <a:cs typeface="Garamond"/>
                <a:sym typeface="Garamond"/>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5"/>
          <p:cNvSpPr txBox="1"/>
          <p:nvPr/>
        </p:nvSpPr>
        <p:spPr>
          <a:xfrm>
            <a:off x="3199439" y="626718"/>
            <a:ext cx="6094070"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s-EC" sz="2800">
                <a:solidFill>
                  <a:schemeClr val="dk1"/>
                </a:solidFill>
                <a:latin typeface="Garamond"/>
                <a:ea typeface="Garamond"/>
                <a:cs typeface="Garamond"/>
                <a:sym typeface="Garamond"/>
              </a:rPr>
              <a:t>TITULO III</a:t>
            </a:r>
            <a:endParaRPr/>
          </a:p>
          <a:p>
            <a:pPr indent="0" lvl="0" marL="0" marR="0" rtl="0" algn="ctr">
              <a:spcBef>
                <a:spcPts val="0"/>
              </a:spcBef>
              <a:spcAft>
                <a:spcPts val="0"/>
              </a:spcAft>
              <a:buNone/>
            </a:pPr>
            <a:r>
              <a:rPr b="1" lang="es-EC" sz="2800">
                <a:solidFill>
                  <a:schemeClr val="dk1"/>
                </a:solidFill>
                <a:latin typeface="Garamond"/>
                <a:ea typeface="Garamond"/>
                <a:cs typeface="Garamond"/>
                <a:sym typeface="Garamond"/>
              </a:rPr>
              <a:t>De las restricciones al consumo</a:t>
            </a:r>
            <a:endParaRPr/>
          </a:p>
        </p:txBody>
      </p:sp>
      <p:grpSp>
        <p:nvGrpSpPr>
          <p:cNvPr id="217" name="Google Shape;217;p5"/>
          <p:cNvGrpSpPr/>
          <p:nvPr/>
        </p:nvGrpSpPr>
        <p:grpSpPr>
          <a:xfrm>
            <a:off x="707600" y="1777921"/>
            <a:ext cx="7292050" cy="4510980"/>
            <a:chOff x="0" y="15782"/>
            <a:chExt cx="7292050" cy="4510980"/>
          </a:xfrm>
        </p:grpSpPr>
        <p:sp>
          <p:nvSpPr>
            <p:cNvPr id="218" name="Google Shape;218;p5"/>
            <p:cNvSpPr/>
            <p:nvPr/>
          </p:nvSpPr>
          <p:spPr>
            <a:xfrm>
              <a:off x="0" y="576662"/>
              <a:ext cx="7292050" cy="3950100"/>
            </a:xfrm>
            <a:prstGeom prst="rect">
              <a:avLst/>
            </a:prstGeom>
            <a:solidFill>
              <a:schemeClr val="lt1">
                <a:alpha val="90196"/>
              </a:schemeClr>
            </a:solidFill>
            <a:ln cap="flat" cmpd="sng" w="15875">
              <a:solidFill>
                <a:srgbClr val="8299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txBox="1"/>
            <p:nvPr/>
          </p:nvSpPr>
          <p:spPr>
            <a:xfrm>
              <a:off x="0" y="576662"/>
              <a:ext cx="7292050" cy="3950100"/>
            </a:xfrm>
            <a:prstGeom prst="rect">
              <a:avLst/>
            </a:prstGeom>
            <a:noFill/>
            <a:ln>
              <a:noFill/>
            </a:ln>
          </p:spPr>
          <p:txBody>
            <a:bodyPr anchorCtr="0" anchor="t" bIns="142225" lIns="565925" spcFirstLastPara="1" rIns="565925" wrap="square" tIns="791450">
              <a:noAutofit/>
            </a:bodyPr>
            <a:lstStyle/>
            <a:p>
              <a:pPr indent="-228600" lvl="1" marL="228600" marR="0" rtl="0" algn="just">
                <a:lnSpc>
                  <a:spcPct val="90000"/>
                </a:lnSpc>
                <a:spcBef>
                  <a:spcPts val="0"/>
                </a:spcBef>
                <a:spcAft>
                  <a:spcPts val="0"/>
                </a:spcAft>
                <a:buClr>
                  <a:schemeClr val="dk1"/>
                </a:buClr>
                <a:buSzPts val="2000"/>
                <a:buFont typeface="Garamond"/>
                <a:buChar char="•"/>
              </a:pPr>
              <a:r>
                <a:rPr b="0" i="0" lang="es-EC" sz="2000" u="none" cap="none" strike="noStrike">
                  <a:solidFill>
                    <a:schemeClr val="dk1"/>
                  </a:solidFill>
                  <a:latin typeface="Garamond"/>
                  <a:ea typeface="Garamond"/>
                  <a:cs typeface="Garamond"/>
                  <a:sym typeface="Garamond"/>
                </a:rPr>
                <a:t>a. Todos los espacios cerrados de las instituciones públicas</a:t>
              </a:r>
              <a:endParaRPr b="0" i="0" sz="2000" u="none" cap="none" strike="noStrike">
                <a:solidFill>
                  <a:schemeClr val="dk1"/>
                </a:solidFill>
                <a:latin typeface="Garamond"/>
                <a:ea typeface="Garamond"/>
                <a:cs typeface="Garamond"/>
                <a:sym typeface="Garamond"/>
              </a:endParaRPr>
            </a:p>
            <a:p>
              <a:pPr indent="-228600" lvl="1" marL="228600" marR="0" rtl="0" algn="just">
                <a:lnSpc>
                  <a:spcPct val="90000"/>
                </a:lnSpc>
                <a:spcBef>
                  <a:spcPts val="300"/>
                </a:spcBef>
                <a:spcAft>
                  <a:spcPts val="0"/>
                </a:spcAft>
                <a:buClr>
                  <a:schemeClr val="dk1"/>
                </a:buClr>
                <a:buSzPts val="2000"/>
                <a:buFont typeface="Garamond"/>
                <a:buChar char="•"/>
              </a:pPr>
              <a:r>
                <a:rPr b="0" i="0" lang="es-EC" sz="2000" u="none" cap="none" strike="noStrike">
                  <a:solidFill>
                    <a:schemeClr val="dk1"/>
                  </a:solidFill>
                  <a:latin typeface="Garamond"/>
                  <a:ea typeface="Garamond"/>
                  <a:cs typeface="Garamond"/>
                  <a:sym typeface="Garamond"/>
                </a:rPr>
                <a:t>b. Todos los espacios cerrados que sean lugares de trabajo y de atención y acceso al público</a:t>
              </a:r>
              <a:endParaRPr b="0" i="0" sz="2000" u="none" cap="none" strike="noStrike">
                <a:solidFill>
                  <a:schemeClr val="dk1"/>
                </a:solidFill>
                <a:latin typeface="Garamond"/>
                <a:ea typeface="Garamond"/>
                <a:cs typeface="Garamond"/>
                <a:sym typeface="Garamond"/>
              </a:endParaRPr>
            </a:p>
            <a:p>
              <a:pPr indent="-228600" lvl="1" marL="228600" marR="0" rtl="0" algn="just">
                <a:lnSpc>
                  <a:spcPct val="90000"/>
                </a:lnSpc>
                <a:spcBef>
                  <a:spcPts val="300"/>
                </a:spcBef>
                <a:spcAft>
                  <a:spcPts val="0"/>
                </a:spcAft>
                <a:buClr>
                  <a:schemeClr val="dk1"/>
                </a:buClr>
                <a:buSzPts val="2000"/>
                <a:buFont typeface="Garamond"/>
                <a:buChar char="•"/>
              </a:pPr>
              <a:r>
                <a:rPr b="0" i="0" lang="es-EC" sz="2000" u="none" cap="none" strike="noStrike">
                  <a:solidFill>
                    <a:schemeClr val="dk1"/>
                  </a:solidFill>
                  <a:latin typeface="Garamond"/>
                  <a:ea typeface="Garamond"/>
                  <a:cs typeface="Garamond"/>
                  <a:sym typeface="Garamond"/>
                </a:rPr>
                <a:t>c. Todos los espacios cerrados o abiertos, públicos o privados, que correspondan a dependencias de salud y educación a todo nivel; con excepción de los espacios abiertos de los establecimientos de educación superior debidamente señalizados</a:t>
              </a:r>
              <a:endParaRPr b="0" i="0" sz="2000" u="none" cap="none" strike="noStrike">
                <a:solidFill>
                  <a:schemeClr val="dk1"/>
                </a:solidFill>
                <a:latin typeface="Garamond"/>
                <a:ea typeface="Garamond"/>
                <a:cs typeface="Garamond"/>
                <a:sym typeface="Garamond"/>
              </a:endParaRPr>
            </a:p>
            <a:p>
              <a:pPr indent="-228600" lvl="1" marL="228600" marR="0" rtl="0" algn="just">
                <a:lnSpc>
                  <a:spcPct val="90000"/>
                </a:lnSpc>
                <a:spcBef>
                  <a:spcPts val="300"/>
                </a:spcBef>
                <a:spcAft>
                  <a:spcPts val="0"/>
                </a:spcAft>
                <a:buClr>
                  <a:schemeClr val="dk1"/>
                </a:buClr>
                <a:buSzPts val="2000"/>
                <a:buFont typeface="Garamond"/>
                <a:buChar char="•"/>
              </a:pPr>
              <a:r>
                <a:rPr b="0" i="0" lang="es-EC" sz="2000" u="none" cap="none" strike="noStrike">
                  <a:solidFill>
                    <a:schemeClr val="dk1"/>
                  </a:solidFill>
                  <a:latin typeface="Garamond"/>
                  <a:ea typeface="Garamond"/>
                  <a:cs typeface="Garamond"/>
                  <a:sym typeface="Garamond"/>
                </a:rPr>
                <a:t>d. Los medios de transporte público en general; y, </a:t>
              </a:r>
              <a:endParaRPr b="0" i="0" sz="2000" u="none" cap="none" strike="noStrike">
                <a:solidFill>
                  <a:schemeClr val="dk1"/>
                </a:solidFill>
                <a:latin typeface="Garamond"/>
                <a:ea typeface="Garamond"/>
                <a:cs typeface="Garamond"/>
                <a:sym typeface="Garamond"/>
              </a:endParaRPr>
            </a:p>
            <a:p>
              <a:pPr indent="-228600" lvl="1" marL="228600" marR="0" rtl="0" algn="just">
                <a:lnSpc>
                  <a:spcPct val="90000"/>
                </a:lnSpc>
                <a:spcBef>
                  <a:spcPts val="300"/>
                </a:spcBef>
                <a:spcAft>
                  <a:spcPts val="0"/>
                </a:spcAft>
                <a:buClr>
                  <a:schemeClr val="dk1"/>
                </a:buClr>
                <a:buSzPts val="2000"/>
                <a:buFont typeface="Garamond"/>
                <a:buChar char="•"/>
              </a:pPr>
              <a:r>
                <a:rPr b="0" i="0" lang="es-EC" sz="2000" u="none" cap="none" strike="noStrike">
                  <a:solidFill>
                    <a:schemeClr val="dk1"/>
                  </a:solidFill>
                  <a:latin typeface="Garamond"/>
                  <a:ea typeface="Garamond"/>
                  <a:cs typeface="Garamond"/>
                  <a:sym typeface="Garamond"/>
                </a:rPr>
                <a:t>e. Los ambientes públicos y privados cerrados, destinados a actividades deportivas.</a:t>
              </a:r>
              <a:endParaRPr b="0" i="0" sz="2000" u="none" cap="none" strike="noStrike">
                <a:solidFill>
                  <a:schemeClr val="dk1"/>
                </a:solidFill>
                <a:latin typeface="Garamond"/>
                <a:ea typeface="Garamond"/>
                <a:cs typeface="Garamond"/>
                <a:sym typeface="Garamond"/>
              </a:endParaRPr>
            </a:p>
          </p:txBody>
        </p:sp>
        <p:sp>
          <p:nvSpPr>
            <p:cNvPr id="220" name="Google Shape;220;p5"/>
            <p:cNvSpPr/>
            <p:nvPr/>
          </p:nvSpPr>
          <p:spPr>
            <a:xfrm>
              <a:off x="364602" y="15782"/>
              <a:ext cx="5596502" cy="1121760"/>
            </a:xfrm>
            <a:prstGeom prst="roundRect">
              <a:avLst>
                <a:gd fmla="val 16667" name="adj"/>
              </a:avLst>
            </a:prstGeom>
            <a:solidFill>
              <a:srgbClr val="CCFFFF"/>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5"/>
            <p:cNvSpPr txBox="1"/>
            <p:nvPr/>
          </p:nvSpPr>
          <p:spPr>
            <a:xfrm>
              <a:off x="419362" y="70542"/>
              <a:ext cx="5486982" cy="1012240"/>
            </a:xfrm>
            <a:prstGeom prst="rect">
              <a:avLst/>
            </a:prstGeom>
            <a:noFill/>
            <a:ln>
              <a:noFill/>
            </a:ln>
          </p:spPr>
          <p:txBody>
            <a:bodyPr anchorCtr="0" anchor="ctr" bIns="0" lIns="192925" spcFirstLastPara="1" rIns="192925" wrap="square" tIns="0">
              <a:noAutofit/>
            </a:bodyPr>
            <a:lstStyle/>
            <a:p>
              <a:pPr indent="0" lvl="0" marL="0" marR="0" rtl="0" algn="just">
                <a:lnSpc>
                  <a:spcPct val="90000"/>
                </a:lnSpc>
                <a:spcBef>
                  <a:spcPts val="0"/>
                </a:spcBef>
                <a:spcAft>
                  <a:spcPts val="0"/>
                </a:spcAft>
                <a:buClr>
                  <a:srgbClr val="C00000"/>
                </a:buClr>
                <a:buSzPts val="1600"/>
                <a:buFont typeface="Garamond"/>
                <a:buNone/>
              </a:pPr>
              <a:r>
                <a:rPr b="1" lang="es-EC" sz="1600">
                  <a:solidFill>
                    <a:srgbClr val="C00000"/>
                  </a:solidFill>
                  <a:latin typeface="Garamond"/>
                  <a:ea typeface="Garamond"/>
                  <a:cs typeface="Garamond"/>
                  <a:sym typeface="Garamond"/>
                </a:rPr>
                <a:t>Art. 21.- </a:t>
              </a:r>
              <a:r>
                <a:rPr b="1" lang="es-EC" sz="1600">
                  <a:solidFill>
                    <a:schemeClr val="dk1"/>
                  </a:solidFill>
                  <a:latin typeface="Garamond"/>
                  <a:ea typeface="Garamond"/>
                  <a:cs typeface="Garamond"/>
                  <a:sym typeface="Garamond"/>
                </a:rPr>
                <a:t>Espacios libres de humo.- </a:t>
              </a:r>
              <a:r>
                <a:rPr lang="es-EC" sz="1600">
                  <a:solidFill>
                    <a:schemeClr val="dk1"/>
                  </a:solidFill>
                  <a:latin typeface="Garamond"/>
                  <a:ea typeface="Garamond"/>
                  <a:cs typeface="Garamond"/>
                  <a:sym typeface="Garamond"/>
                </a:rPr>
                <a:t>Declárese espacios cien por ciento (100%) libres de humo de tabaco y prohíbase fumar o mantener encendidos productos de tabaco en:</a:t>
              </a:r>
              <a:endParaRPr sz="1600">
                <a:solidFill>
                  <a:schemeClr val="dk1"/>
                </a:solidFill>
                <a:latin typeface="Garamond"/>
                <a:ea typeface="Garamond"/>
                <a:cs typeface="Garamond"/>
                <a:sym typeface="Garamond"/>
              </a:endParaRPr>
            </a:p>
          </p:txBody>
        </p:sp>
      </p:grpSp>
      <p:pic>
        <p:nvPicPr>
          <p:cNvPr descr="Certificaciones - PhytoPharma" id="222" name="Google Shape;222;p5"/>
          <p:cNvPicPr preferRelativeResize="0"/>
          <p:nvPr/>
        </p:nvPicPr>
        <p:blipFill rotWithShape="1">
          <a:blip r:embed="rId3">
            <a:alphaModFix/>
          </a:blip>
          <a:srcRect b="11192" l="18676" r="19118" t="10684"/>
          <a:stretch/>
        </p:blipFill>
        <p:spPr>
          <a:xfrm>
            <a:off x="9138717" y="384443"/>
            <a:ext cx="2194006" cy="2755392"/>
          </a:xfrm>
          <a:prstGeom prst="rect">
            <a:avLst/>
          </a:prstGeom>
          <a:noFill/>
          <a:ln>
            <a:noFill/>
          </a:ln>
        </p:spPr>
      </p:pic>
      <p:sp>
        <p:nvSpPr>
          <p:cNvPr id="223" name="Google Shape;223;p5"/>
          <p:cNvSpPr txBox="1"/>
          <p:nvPr/>
        </p:nvSpPr>
        <p:spPr>
          <a:xfrm>
            <a:off x="9138717" y="3923334"/>
            <a:ext cx="2260339" cy="2031325"/>
          </a:xfrm>
          <a:prstGeom prst="rect">
            <a:avLst/>
          </a:prstGeom>
          <a:solidFill>
            <a:srgbClr val="F8EFD7"/>
          </a:solidFill>
          <a:ln cap="flat" cmpd="sng" w="9525">
            <a:solidFill>
              <a:schemeClr val="dk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EC" sz="1800">
                <a:solidFill>
                  <a:schemeClr val="dk1"/>
                </a:solidFill>
                <a:latin typeface="Garamond"/>
                <a:ea typeface="Garamond"/>
                <a:cs typeface="Garamond"/>
                <a:sym typeface="Garamond"/>
              </a:rPr>
              <a:t>Cualquier institución pública o privada podrá declararse cien por ciento (100%) libre de humo de tabaco si así lo considera. </a:t>
            </a:r>
            <a:endParaRPr sz="1800">
              <a:solidFill>
                <a:schemeClr val="dk1"/>
              </a:solidFill>
              <a:latin typeface="Garamond"/>
              <a:ea typeface="Garamond"/>
              <a:cs typeface="Garamond"/>
              <a:sym typeface="Garamond"/>
            </a:endParaRPr>
          </a:p>
        </p:txBody>
      </p:sp>
      <p:sp>
        <p:nvSpPr>
          <p:cNvPr id="224" name="Google Shape;224;p5"/>
          <p:cNvSpPr/>
          <p:nvPr/>
        </p:nvSpPr>
        <p:spPr>
          <a:xfrm>
            <a:off x="859277" y="899083"/>
            <a:ext cx="2786742" cy="767046"/>
          </a:xfrm>
          <a:prstGeom prst="rightArrow">
            <a:avLst>
              <a:gd fmla="val 50000" name="adj1"/>
              <a:gd fmla="val 50000" name="adj2"/>
            </a:avLst>
          </a:prstGeom>
          <a:solidFill>
            <a:srgbClr val="C4C4C4"/>
          </a:solidFill>
          <a:ln cap="flat" cmpd="sng" w="15875">
            <a:solidFill>
              <a:srgbClr val="3740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s-EC" sz="1800">
                <a:solidFill>
                  <a:schemeClr val="dk1"/>
                </a:solidFill>
                <a:latin typeface="Garamond"/>
                <a:ea typeface="Garamond"/>
                <a:cs typeface="Garamond"/>
                <a:sym typeface="Garamond"/>
              </a:rPr>
              <a:t>CAPITULO PRIMERO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6"/>
          <p:cNvSpPr/>
          <p:nvPr/>
        </p:nvSpPr>
        <p:spPr>
          <a:xfrm>
            <a:off x="637113" y="796974"/>
            <a:ext cx="2803921" cy="767046"/>
          </a:xfrm>
          <a:prstGeom prst="rightArrow">
            <a:avLst>
              <a:gd fmla="val 50000" name="adj1"/>
              <a:gd fmla="val 50000" name="adj2"/>
            </a:avLst>
          </a:prstGeom>
          <a:solidFill>
            <a:srgbClr val="D6E2ED"/>
          </a:solidFill>
          <a:ln cap="flat" cmpd="sng" w="15875">
            <a:solidFill>
              <a:srgbClr val="3740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s-EC" sz="1800">
                <a:solidFill>
                  <a:schemeClr val="dk1"/>
                </a:solidFill>
                <a:latin typeface="Garamond"/>
                <a:ea typeface="Garamond"/>
                <a:cs typeface="Garamond"/>
                <a:sym typeface="Garamond"/>
              </a:rPr>
              <a:t>CAPITULO SEGUNDO</a:t>
            </a:r>
            <a:endParaRPr/>
          </a:p>
        </p:txBody>
      </p:sp>
      <p:sp>
        <p:nvSpPr>
          <p:cNvPr id="230" name="Google Shape;230;p6"/>
          <p:cNvSpPr txBox="1"/>
          <p:nvPr/>
        </p:nvSpPr>
        <p:spPr>
          <a:xfrm>
            <a:off x="3552237" y="953175"/>
            <a:ext cx="233133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C" sz="2000">
                <a:solidFill>
                  <a:srgbClr val="002060"/>
                </a:solidFill>
                <a:latin typeface="Garamond"/>
                <a:ea typeface="Garamond"/>
                <a:cs typeface="Garamond"/>
                <a:sym typeface="Garamond"/>
              </a:rPr>
              <a:t>De la señalización </a:t>
            </a:r>
            <a:endParaRPr/>
          </a:p>
        </p:txBody>
      </p:sp>
      <p:sp>
        <p:nvSpPr>
          <p:cNvPr id="231" name="Google Shape;231;p6"/>
          <p:cNvSpPr txBox="1"/>
          <p:nvPr/>
        </p:nvSpPr>
        <p:spPr>
          <a:xfrm>
            <a:off x="1479609" y="1539738"/>
            <a:ext cx="7588169"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s-EC" sz="2400">
                <a:solidFill>
                  <a:schemeClr val="dk1"/>
                </a:solidFill>
                <a:latin typeface="Garamond"/>
                <a:ea typeface="Garamond"/>
                <a:cs typeface="Garamond"/>
                <a:sym typeface="Garamond"/>
              </a:rPr>
              <a:t>TITULO IV</a:t>
            </a:r>
            <a:endParaRPr/>
          </a:p>
          <a:p>
            <a:pPr indent="0" lvl="0" marL="0" marR="0" rtl="0" algn="ctr">
              <a:spcBef>
                <a:spcPts val="0"/>
              </a:spcBef>
              <a:spcAft>
                <a:spcPts val="0"/>
              </a:spcAft>
              <a:buNone/>
            </a:pPr>
            <a:r>
              <a:rPr b="1" lang="es-EC" sz="2400">
                <a:solidFill>
                  <a:schemeClr val="dk1"/>
                </a:solidFill>
                <a:latin typeface="Garamond"/>
                <a:ea typeface="Garamond"/>
                <a:cs typeface="Garamond"/>
                <a:sym typeface="Garamond"/>
              </a:rPr>
              <a:t>De la participación ciudadana y la acción pública</a:t>
            </a:r>
            <a:endParaRPr/>
          </a:p>
        </p:txBody>
      </p:sp>
      <p:sp>
        <p:nvSpPr>
          <p:cNvPr id="232" name="Google Shape;232;p6"/>
          <p:cNvSpPr txBox="1"/>
          <p:nvPr/>
        </p:nvSpPr>
        <p:spPr>
          <a:xfrm>
            <a:off x="1775136" y="2555509"/>
            <a:ext cx="6697964"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C" sz="1800">
                <a:solidFill>
                  <a:srgbClr val="C00000"/>
                </a:solidFill>
                <a:latin typeface="Garamond"/>
                <a:ea typeface="Garamond"/>
                <a:cs typeface="Garamond"/>
                <a:sym typeface="Garamond"/>
              </a:rPr>
              <a:t>Art. 25</a:t>
            </a:r>
            <a:r>
              <a:rPr lang="es-EC" sz="1800">
                <a:solidFill>
                  <a:schemeClr val="dk1"/>
                </a:solidFill>
                <a:latin typeface="Garamond"/>
                <a:ea typeface="Garamond"/>
                <a:cs typeface="Garamond"/>
                <a:sym typeface="Garamond"/>
              </a:rPr>
              <a:t> </a:t>
            </a:r>
            <a:r>
              <a:rPr b="1" i="1" lang="es-EC" sz="1800">
                <a:solidFill>
                  <a:schemeClr val="dk1"/>
                </a:solidFill>
                <a:latin typeface="Garamond"/>
                <a:ea typeface="Garamond"/>
                <a:cs typeface="Garamond"/>
                <a:sym typeface="Garamond"/>
              </a:rPr>
              <a:t>Participación ciudadana</a:t>
            </a:r>
            <a:r>
              <a:rPr lang="es-EC" sz="1800">
                <a:solidFill>
                  <a:schemeClr val="dk1"/>
                </a:solidFill>
                <a:latin typeface="Garamond"/>
                <a:ea typeface="Garamond"/>
                <a:cs typeface="Garamond"/>
                <a:sym typeface="Garamond"/>
              </a:rPr>
              <a:t>.- La Autoridad Sanitaria Nacional y los gobiernos autónomos descentralizados promoverán la participación de la sociedad civil en la prevención del tabaquismo y el control de los productos del tabaco en las siguientes acciones: </a:t>
            </a:r>
            <a:endParaRPr sz="1800">
              <a:solidFill>
                <a:schemeClr val="dk1"/>
              </a:solidFill>
              <a:latin typeface="Garamond"/>
              <a:ea typeface="Garamond"/>
              <a:cs typeface="Garamond"/>
              <a:sym typeface="Garamond"/>
            </a:endParaRPr>
          </a:p>
        </p:txBody>
      </p:sp>
      <p:pic>
        <p:nvPicPr>
          <p:cNvPr id="233" name="Google Shape;233;p6"/>
          <p:cNvPicPr preferRelativeResize="0"/>
          <p:nvPr/>
        </p:nvPicPr>
        <p:blipFill rotWithShape="1">
          <a:blip r:embed="rId3">
            <a:alphaModFix/>
          </a:blip>
          <a:srcRect b="0" l="0" r="0" t="0"/>
          <a:stretch/>
        </p:blipFill>
        <p:spPr>
          <a:xfrm>
            <a:off x="8741915" y="515974"/>
            <a:ext cx="2928722" cy="3986469"/>
          </a:xfrm>
          <a:prstGeom prst="rect">
            <a:avLst/>
          </a:prstGeom>
          <a:noFill/>
          <a:ln>
            <a:noFill/>
          </a:ln>
        </p:spPr>
      </p:pic>
      <p:grpSp>
        <p:nvGrpSpPr>
          <p:cNvPr id="234" name="Google Shape;234;p6"/>
          <p:cNvGrpSpPr/>
          <p:nvPr/>
        </p:nvGrpSpPr>
        <p:grpSpPr>
          <a:xfrm>
            <a:off x="373527" y="3912867"/>
            <a:ext cx="8688755" cy="1988141"/>
            <a:chOff x="5494" y="210541"/>
            <a:chExt cx="8688755" cy="1988141"/>
          </a:xfrm>
        </p:grpSpPr>
        <p:sp>
          <p:nvSpPr>
            <p:cNvPr id="235" name="Google Shape;235;p6"/>
            <p:cNvSpPr/>
            <p:nvPr/>
          </p:nvSpPr>
          <p:spPr>
            <a:xfrm>
              <a:off x="5494" y="484589"/>
              <a:ext cx="2400076" cy="1440045"/>
            </a:xfrm>
            <a:prstGeom prst="rect">
              <a:avLst/>
            </a:prstGeom>
            <a:solidFill>
              <a:srgbClr val="F2E0B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
            <p:cNvSpPr txBox="1"/>
            <p:nvPr/>
          </p:nvSpPr>
          <p:spPr>
            <a:xfrm>
              <a:off x="5494" y="484589"/>
              <a:ext cx="2400076" cy="1440045"/>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chemeClr val="dk1"/>
                </a:buClr>
                <a:buSzPts val="1400"/>
                <a:buFont typeface="Garamond"/>
                <a:buNone/>
              </a:pPr>
              <a:r>
                <a:rPr lang="es-EC" sz="1400">
                  <a:solidFill>
                    <a:schemeClr val="dk1"/>
                  </a:solidFill>
                  <a:latin typeface="Garamond"/>
                  <a:ea typeface="Garamond"/>
                  <a:cs typeface="Garamond"/>
                  <a:sym typeface="Garamond"/>
                </a:rPr>
                <a:t>a. Promoción de los espacios 100% libres de humo</a:t>
              </a:r>
              <a:endParaRPr sz="1400">
                <a:solidFill>
                  <a:schemeClr val="dk1"/>
                </a:solidFill>
                <a:latin typeface="Garamond"/>
                <a:ea typeface="Garamond"/>
                <a:cs typeface="Garamond"/>
                <a:sym typeface="Garamond"/>
              </a:endParaRPr>
            </a:p>
          </p:txBody>
        </p:sp>
        <p:sp>
          <p:nvSpPr>
            <p:cNvPr id="237" name="Google Shape;237;p6"/>
            <p:cNvSpPr/>
            <p:nvPr/>
          </p:nvSpPr>
          <p:spPr>
            <a:xfrm>
              <a:off x="2645578" y="210541"/>
              <a:ext cx="2400076" cy="1988141"/>
            </a:xfrm>
            <a:prstGeom prst="rect">
              <a:avLst/>
            </a:prstGeom>
            <a:solidFill>
              <a:srgbClr val="AEC4DC"/>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6"/>
            <p:cNvSpPr txBox="1"/>
            <p:nvPr/>
          </p:nvSpPr>
          <p:spPr>
            <a:xfrm>
              <a:off x="2645578" y="210541"/>
              <a:ext cx="2400076" cy="1988141"/>
            </a:xfrm>
            <a:prstGeom prst="rect">
              <a:avLst/>
            </a:prstGeom>
            <a:noFill/>
            <a:ln>
              <a:noFill/>
            </a:ln>
          </p:spPr>
          <p:txBody>
            <a:bodyPr anchorCtr="0" anchor="ctr" bIns="53325" lIns="53325" spcFirstLastPara="1" rIns="53325" wrap="square" tIns="53325">
              <a:noAutofit/>
            </a:bodyPr>
            <a:lstStyle/>
            <a:p>
              <a:pPr indent="0" lvl="0" marL="0" marR="0" rtl="0" algn="just">
                <a:lnSpc>
                  <a:spcPct val="90000"/>
                </a:lnSpc>
                <a:spcBef>
                  <a:spcPts val="0"/>
                </a:spcBef>
                <a:spcAft>
                  <a:spcPts val="0"/>
                </a:spcAft>
                <a:buClr>
                  <a:schemeClr val="dk1"/>
                </a:buClr>
                <a:buSzPts val="1400"/>
                <a:buFont typeface="Garamond"/>
                <a:buNone/>
              </a:pPr>
              <a:r>
                <a:rPr lang="es-EC" sz="1400">
                  <a:solidFill>
                    <a:schemeClr val="dk1"/>
                  </a:solidFill>
                  <a:latin typeface="Garamond"/>
                  <a:ea typeface="Garamond"/>
                  <a:cs typeface="Garamond"/>
                  <a:sym typeface="Garamond"/>
                </a:rPr>
                <a:t>b. Educación para la prevención y control del tabaquismo en establecimientos de educación, barrios y comunidades urbanas y rurales </a:t>
              </a:r>
              <a:endParaRPr sz="1400">
                <a:solidFill>
                  <a:schemeClr val="dk1"/>
                </a:solidFill>
                <a:latin typeface="Garamond"/>
                <a:ea typeface="Garamond"/>
                <a:cs typeface="Garamond"/>
                <a:sym typeface="Garamond"/>
              </a:endParaRPr>
            </a:p>
          </p:txBody>
        </p:sp>
        <p:sp>
          <p:nvSpPr>
            <p:cNvPr id="239" name="Google Shape;239;p6"/>
            <p:cNvSpPr/>
            <p:nvPr/>
          </p:nvSpPr>
          <p:spPr>
            <a:xfrm>
              <a:off x="5285662" y="250272"/>
              <a:ext cx="1597394" cy="1908679"/>
            </a:xfrm>
            <a:prstGeom prst="rect">
              <a:avLst/>
            </a:prstGeom>
            <a:solidFill>
              <a:srgbClr val="CCFFCC"/>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
            <p:cNvSpPr txBox="1"/>
            <p:nvPr/>
          </p:nvSpPr>
          <p:spPr>
            <a:xfrm>
              <a:off x="5285662" y="250272"/>
              <a:ext cx="1597394" cy="1908679"/>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chemeClr val="dk1"/>
                </a:buClr>
                <a:buSzPts val="1400"/>
                <a:buFont typeface="Garamond"/>
                <a:buNone/>
              </a:pPr>
              <a:r>
                <a:rPr lang="es-EC" sz="1400">
                  <a:solidFill>
                    <a:schemeClr val="dk1"/>
                  </a:solidFill>
                  <a:latin typeface="Garamond"/>
                  <a:ea typeface="Garamond"/>
                  <a:cs typeface="Garamond"/>
                  <a:sym typeface="Garamond"/>
                </a:rPr>
                <a:t>c. Difusión de las disposiciones legales en materia de control de los productos del tabaco; y, </a:t>
              </a:r>
              <a:endParaRPr sz="1400">
                <a:solidFill>
                  <a:schemeClr val="dk1"/>
                </a:solidFill>
                <a:latin typeface="Garamond"/>
                <a:ea typeface="Garamond"/>
                <a:cs typeface="Garamond"/>
                <a:sym typeface="Garamond"/>
              </a:endParaRPr>
            </a:p>
          </p:txBody>
        </p:sp>
        <p:sp>
          <p:nvSpPr>
            <p:cNvPr id="241" name="Google Shape;241;p6"/>
            <p:cNvSpPr/>
            <p:nvPr/>
          </p:nvSpPr>
          <p:spPr>
            <a:xfrm>
              <a:off x="7123064" y="343580"/>
              <a:ext cx="1571185" cy="1722064"/>
            </a:xfrm>
            <a:prstGeom prst="rect">
              <a:avLst/>
            </a:prstGeom>
            <a:solidFill>
              <a:srgbClr val="FFCC99"/>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6"/>
            <p:cNvSpPr txBox="1"/>
            <p:nvPr/>
          </p:nvSpPr>
          <p:spPr>
            <a:xfrm>
              <a:off x="7123064" y="343580"/>
              <a:ext cx="1571185" cy="1722064"/>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chemeClr val="dk1"/>
                </a:buClr>
                <a:buSzPts val="1400"/>
                <a:buFont typeface="Garamond"/>
                <a:buNone/>
              </a:pPr>
              <a:r>
                <a:rPr lang="es-EC" sz="1400">
                  <a:solidFill>
                    <a:schemeClr val="dk1"/>
                  </a:solidFill>
                  <a:latin typeface="Garamond"/>
                  <a:ea typeface="Garamond"/>
                  <a:cs typeface="Garamond"/>
                  <a:sym typeface="Garamond"/>
                </a:rPr>
                <a:t>d. Las acciones de auxilio de aplicación de esta Ley.</a:t>
              </a:r>
              <a:endParaRPr sz="1400">
                <a:solidFill>
                  <a:schemeClr val="dk1"/>
                </a:solidFill>
                <a:latin typeface="Garamond"/>
                <a:ea typeface="Garamond"/>
                <a:cs typeface="Garamond"/>
                <a:sym typeface="Garamo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par>
                                <p:cTn fill="hold" nodeType="with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7"/>
          <p:cNvSpPr txBox="1"/>
          <p:nvPr/>
        </p:nvSpPr>
        <p:spPr>
          <a:xfrm>
            <a:off x="1557066" y="865508"/>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C" sz="1800">
                <a:solidFill>
                  <a:schemeClr val="dk1"/>
                </a:solidFill>
                <a:latin typeface="Garamond"/>
                <a:ea typeface="Garamond"/>
                <a:cs typeface="Garamond"/>
                <a:sym typeface="Garamond"/>
              </a:rPr>
              <a:t>En mayúscula y letras más grandes:</a:t>
            </a:r>
            <a:endParaRPr/>
          </a:p>
        </p:txBody>
      </p:sp>
      <p:sp>
        <p:nvSpPr>
          <p:cNvPr id="248" name="Google Shape;248;p7"/>
          <p:cNvSpPr/>
          <p:nvPr/>
        </p:nvSpPr>
        <p:spPr>
          <a:xfrm>
            <a:off x="1192133" y="1415930"/>
            <a:ext cx="10048087" cy="972957"/>
          </a:xfrm>
          <a:prstGeom prst="roundRect">
            <a:avLst>
              <a:gd fmla="val 16667" name="adj"/>
            </a:avLst>
          </a:prstGeom>
          <a:solidFill>
            <a:srgbClr val="CCCC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C" sz="2400">
                <a:solidFill>
                  <a:schemeClr val="dk1"/>
                </a:solidFill>
                <a:latin typeface="Garamond"/>
                <a:ea typeface="Garamond"/>
                <a:cs typeface="Garamond"/>
                <a:sym typeface="Garamond"/>
              </a:rPr>
              <a:t>"EDIFICIO"/"LOCAL"/"ESTABLECIMIENTO"/o el nombre específico del local/"</a:t>
            </a:r>
            <a:r>
              <a:rPr b="1" lang="es-EC" sz="2400">
                <a:solidFill>
                  <a:schemeClr val="dk1"/>
                </a:solidFill>
                <a:latin typeface="Garamond"/>
                <a:ea typeface="Garamond"/>
                <a:cs typeface="Garamond"/>
                <a:sym typeface="Garamond"/>
              </a:rPr>
              <a:t>100% LIBRE DE HUMO DE TABACO"</a:t>
            </a:r>
            <a:endParaRPr/>
          </a:p>
        </p:txBody>
      </p:sp>
      <p:sp>
        <p:nvSpPr>
          <p:cNvPr id="249" name="Google Shape;249;p7"/>
          <p:cNvSpPr/>
          <p:nvPr/>
        </p:nvSpPr>
        <p:spPr>
          <a:xfrm>
            <a:off x="1318830" y="3214695"/>
            <a:ext cx="10048087" cy="972957"/>
          </a:xfrm>
          <a:prstGeom prst="roundRect">
            <a:avLst>
              <a:gd fmla="val 16667" name="adj"/>
            </a:avLst>
          </a:prstGeom>
          <a:gradFill>
            <a:gsLst>
              <a:gs pos="0">
                <a:srgbClr val="F1D5CA"/>
              </a:gs>
              <a:gs pos="100000">
                <a:srgbClr val="E09B79"/>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C" sz="2200">
                <a:solidFill>
                  <a:schemeClr val="dk1"/>
                </a:solidFill>
                <a:latin typeface="Garamond"/>
                <a:ea typeface="Garamond"/>
                <a:cs typeface="Garamond"/>
                <a:sym typeface="Garamond"/>
              </a:rPr>
              <a:t>"</a:t>
            </a:r>
            <a:r>
              <a:rPr lang="es-EC" sz="2100">
                <a:solidFill>
                  <a:schemeClr val="dk1"/>
                </a:solidFill>
                <a:latin typeface="Garamond"/>
                <a:ea typeface="Garamond"/>
                <a:cs typeface="Garamond"/>
                <a:sym typeface="Garamond"/>
              </a:rPr>
              <a:t>Ley Orgánica para la Regulación y Control del Tabaco", R.O. No. 497 22 de julio del 2011.</a:t>
            </a:r>
            <a:endParaRPr/>
          </a:p>
          <a:p>
            <a:pPr indent="0" lvl="0" marL="0" marR="0" rtl="0" algn="ctr">
              <a:spcBef>
                <a:spcPts val="0"/>
              </a:spcBef>
              <a:spcAft>
                <a:spcPts val="0"/>
              </a:spcAft>
              <a:buNone/>
            </a:pPr>
            <a:r>
              <a:rPr lang="es-EC" sz="2100">
                <a:solidFill>
                  <a:schemeClr val="dk1"/>
                </a:solidFill>
                <a:latin typeface="Garamond"/>
                <a:ea typeface="Garamond"/>
                <a:cs typeface="Garamond"/>
                <a:sym typeface="Garamond"/>
              </a:rPr>
              <a:t>Denuncias por la violación de la ley: a (los teléfonos y direcciones de correo electrónico que defina el Ministerio de Salud Pública y sus instancias desconcentradas).".</a:t>
            </a:r>
            <a:endParaRPr/>
          </a:p>
        </p:txBody>
      </p:sp>
      <p:sp>
        <p:nvSpPr>
          <p:cNvPr id="250" name="Google Shape;250;p7"/>
          <p:cNvSpPr txBox="1"/>
          <p:nvPr/>
        </p:nvSpPr>
        <p:spPr>
          <a:xfrm>
            <a:off x="1554346" y="2751068"/>
            <a:ext cx="60987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C" sz="1800">
                <a:solidFill>
                  <a:schemeClr val="dk1"/>
                </a:solidFill>
                <a:latin typeface="Times New Roman"/>
                <a:ea typeface="Times New Roman"/>
                <a:cs typeface="Times New Roman"/>
                <a:sym typeface="Times New Roman"/>
              </a:rPr>
              <a:t>Y en letras más pequeñas y en minúsculas: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0"/>
                                        </p:tgtEl>
                                        <p:attrNameLst>
                                          <p:attrName>style.visibility</p:attrName>
                                        </p:attrNameLst>
                                      </p:cBhvr>
                                      <p:to>
                                        <p:strVal val="visible"/>
                                      </p:to>
                                    </p:set>
                                    <p:anim calcmode="lin" valueType="num">
                                      <p:cBhvr additive="base">
                                        <p:cTn dur="500"/>
                                        <p:tgtEl>
                                          <p:spTgt spid="25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8"/>
          <p:cNvSpPr txBox="1"/>
          <p:nvPr/>
        </p:nvSpPr>
        <p:spPr>
          <a:xfrm>
            <a:off x="2189064" y="564311"/>
            <a:ext cx="7588169"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s-EC" sz="2800">
                <a:solidFill>
                  <a:schemeClr val="dk1"/>
                </a:solidFill>
                <a:latin typeface="Garamond"/>
                <a:ea typeface="Garamond"/>
                <a:cs typeface="Garamond"/>
                <a:sym typeface="Garamond"/>
              </a:rPr>
              <a:t>TITULO V</a:t>
            </a:r>
            <a:endParaRPr/>
          </a:p>
          <a:p>
            <a:pPr indent="0" lvl="0" marL="0" marR="0" rtl="0" algn="ctr">
              <a:spcBef>
                <a:spcPts val="0"/>
              </a:spcBef>
              <a:spcAft>
                <a:spcPts val="0"/>
              </a:spcAft>
              <a:buNone/>
            </a:pPr>
            <a:r>
              <a:rPr b="1" lang="es-EC" sz="2800">
                <a:solidFill>
                  <a:schemeClr val="dk1"/>
                </a:solidFill>
                <a:latin typeface="Garamond"/>
                <a:ea typeface="Garamond"/>
                <a:cs typeface="Garamond"/>
                <a:sym typeface="Garamond"/>
              </a:rPr>
              <a:t>Régimen Administrativo y Sancionador</a:t>
            </a:r>
            <a:endParaRPr/>
          </a:p>
        </p:txBody>
      </p:sp>
      <p:sp>
        <p:nvSpPr>
          <p:cNvPr id="256" name="Google Shape;256;p8"/>
          <p:cNvSpPr txBox="1"/>
          <p:nvPr/>
        </p:nvSpPr>
        <p:spPr>
          <a:xfrm>
            <a:off x="876781" y="1452997"/>
            <a:ext cx="30759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C" sz="1800">
                <a:solidFill>
                  <a:srgbClr val="C00000"/>
                </a:solidFill>
                <a:latin typeface="Garamond"/>
                <a:ea typeface="Garamond"/>
                <a:cs typeface="Garamond"/>
                <a:sym typeface="Garamond"/>
              </a:rPr>
              <a:t>Art. 31.- </a:t>
            </a:r>
            <a:r>
              <a:rPr b="1" lang="es-EC" sz="1800">
                <a:solidFill>
                  <a:schemeClr val="dk1"/>
                </a:solidFill>
                <a:latin typeface="Garamond"/>
                <a:ea typeface="Garamond"/>
                <a:cs typeface="Garamond"/>
                <a:sym typeface="Garamond"/>
              </a:rPr>
              <a:t>Sanciones</a:t>
            </a:r>
            <a:endParaRPr b="1" i="1" sz="1800">
              <a:solidFill>
                <a:schemeClr val="dk1"/>
              </a:solidFill>
              <a:latin typeface="Garamond"/>
              <a:ea typeface="Garamond"/>
              <a:cs typeface="Garamond"/>
              <a:sym typeface="Garamond"/>
            </a:endParaRPr>
          </a:p>
        </p:txBody>
      </p:sp>
      <p:sp>
        <p:nvSpPr>
          <p:cNvPr id="257" name="Google Shape;257;p8"/>
          <p:cNvSpPr txBox="1"/>
          <p:nvPr/>
        </p:nvSpPr>
        <p:spPr>
          <a:xfrm>
            <a:off x="3048965" y="1464355"/>
            <a:ext cx="83877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C" sz="1800">
                <a:solidFill>
                  <a:schemeClr val="dk1"/>
                </a:solidFill>
                <a:latin typeface="Garamond"/>
                <a:ea typeface="Garamond"/>
                <a:cs typeface="Garamond"/>
                <a:sym typeface="Garamond"/>
              </a:rPr>
              <a:t>Las infracciones administrativas serán sancionadas por la Autoridad Sanitaria Nacional</a:t>
            </a:r>
            <a:endParaRPr sz="1800">
              <a:solidFill>
                <a:schemeClr val="dk1"/>
              </a:solidFill>
              <a:latin typeface="Garamond"/>
              <a:ea typeface="Garamond"/>
              <a:cs typeface="Garamond"/>
              <a:sym typeface="Garamond"/>
            </a:endParaRPr>
          </a:p>
        </p:txBody>
      </p:sp>
      <p:pic>
        <p:nvPicPr>
          <p:cNvPr descr="multa vector icono 20423088 Vector en Vecteezy" id="258" name="Google Shape;258;p8"/>
          <p:cNvPicPr preferRelativeResize="0"/>
          <p:nvPr/>
        </p:nvPicPr>
        <p:blipFill rotWithShape="1">
          <a:blip r:embed="rId3">
            <a:alphaModFix/>
          </a:blip>
          <a:srcRect b="0" l="0" r="0" t="0"/>
          <a:stretch/>
        </p:blipFill>
        <p:spPr>
          <a:xfrm>
            <a:off x="1176879" y="2062980"/>
            <a:ext cx="1594115" cy="1757228"/>
          </a:xfrm>
          <a:prstGeom prst="rect">
            <a:avLst/>
          </a:prstGeom>
          <a:noFill/>
          <a:ln>
            <a:noFill/>
          </a:ln>
        </p:spPr>
      </p:pic>
      <p:grpSp>
        <p:nvGrpSpPr>
          <p:cNvPr id="259" name="Google Shape;259;p8"/>
          <p:cNvGrpSpPr/>
          <p:nvPr/>
        </p:nvGrpSpPr>
        <p:grpSpPr>
          <a:xfrm>
            <a:off x="3048965" y="1910228"/>
            <a:ext cx="8121389" cy="2326027"/>
            <a:chOff x="0" y="284"/>
            <a:chExt cx="8121389" cy="2326027"/>
          </a:xfrm>
        </p:grpSpPr>
        <p:sp>
          <p:nvSpPr>
            <p:cNvPr id="260" name="Google Shape;260;p8"/>
            <p:cNvSpPr/>
            <p:nvPr/>
          </p:nvSpPr>
          <p:spPr>
            <a:xfrm>
              <a:off x="0" y="284"/>
              <a:ext cx="8121389" cy="664579"/>
            </a:xfrm>
            <a:prstGeom prst="roundRect">
              <a:avLst>
                <a:gd fmla="val 10000" name="adj"/>
              </a:avLst>
            </a:prstGeom>
            <a:solidFill>
              <a:srgbClr val="D8DD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201035" y="149814"/>
              <a:ext cx="365518" cy="365518"/>
            </a:xfrm>
            <a:prstGeom prst="rect">
              <a:avLst/>
            </a:prstGeom>
            <a:blipFill rotWithShape="1">
              <a:blip r:embed="rId4">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767589" y="284"/>
              <a:ext cx="7353799" cy="664579"/>
            </a:xfrm>
            <a:prstGeom prst="rect">
              <a:avLst/>
            </a:prstGeom>
            <a:gradFill>
              <a:gsLst>
                <a:gs pos="0">
                  <a:srgbClr val="B8B8B8"/>
                </a:gs>
                <a:gs pos="100000">
                  <a:srgbClr val="757575"/>
                </a:gs>
              </a:gsLst>
              <a:lin ang="5400000"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txBox="1"/>
            <p:nvPr/>
          </p:nvSpPr>
          <p:spPr>
            <a:xfrm>
              <a:off x="767589" y="284"/>
              <a:ext cx="7353799" cy="664579"/>
            </a:xfrm>
            <a:prstGeom prst="rect">
              <a:avLst/>
            </a:prstGeom>
            <a:noFill/>
            <a:ln>
              <a:noFill/>
            </a:ln>
          </p:spPr>
          <p:txBody>
            <a:bodyPr anchorCtr="0" anchor="ctr" bIns="70325" lIns="70325" spcFirstLastPara="1" rIns="70325" wrap="square" tIns="70325">
              <a:noAutofit/>
            </a:bodyPr>
            <a:lstStyle/>
            <a:p>
              <a:pPr indent="0" lvl="0" marL="0" marR="0" rtl="0" algn="l">
                <a:lnSpc>
                  <a:spcPct val="100000"/>
                </a:lnSpc>
                <a:spcBef>
                  <a:spcPts val="0"/>
                </a:spcBef>
                <a:spcAft>
                  <a:spcPts val="0"/>
                </a:spcAft>
                <a:buClr>
                  <a:schemeClr val="dk1"/>
                </a:buClr>
                <a:buSzPts val="1800"/>
                <a:buFont typeface="Garamond"/>
                <a:buNone/>
              </a:pPr>
              <a:r>
                <a:rPr lang="es-EC" sz="1800">
                  <a:solidFill>
                    <a:schemeClr val="dk1"/>
                  </a:solidFill>
                  <a:latin typeface="Garamond"/>
                  <a:ea typeface="Garamond"/>
                  <a:cs typeface="Garamond"/>
                  <a:sym typeface="Garamond"/>
                </a:rPr>
                <a:t>a. Multa</a:t>
              </a:r>
              <a:endParaRPr sz="1800">
                <a:solidFill>
                  <a:schemeClr val="dk1"/>
                </a:solidFill>
                <a:latin typeface="Garamond"/>
                <a:ea typeface="Garamond"/>
                <a:cs typeface="Garamond"/>
                <a:sym typeface="Garamond"/>
              </a:endParaRPr>
            </a:p>
          </p:txBody>
        </p:sp>
        <p:sp>
          <p:nvSpPr>
            <p:cNvPr id="264" name="Google Shape;264;p8"/>
            <p:cNvSpPr/>
            <p:nvPr/>
          </p:nvSpPr>
          <p:spPr>
            <a:xfrm>
              <a:off x="0" y="831008"/>
              <a:ext cx="8121389" cy="664579"/>
            </a:xfrm>
            <a:prstGeom prst="roundRect">
              <a:avLst>
                <a:gd fmla="val 10000" name="adj"/>
              </a:avLst>
            </a:prstGeom>
            <a:solidFill>
              <a:srgbClr val="D8DD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a:off x="201035" y="980538"/>
              <a:ext cx="365518" cy="365518"/>
            </a:xfrm>
            <a:prstGeom prst="rect">
              <a:avLst/>
            </a:prstGeom>
            <a:blipFill rotWithShape="1">
              <a:blip r:embed="rId5">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767589" y="831008"/>
              <a:ext cx="7353799" cy="664579"/>
            </a:xfrm>
            <a:prstGeom prst="rect">
              <a:avLst/>
            </a:prstGeom>
            <a:gradFill>
              <a:gsLst>
                <a:gs pos="0">
                  <a:srgbClr val="B8B8B8"/>
                </a:gs>
                <a:gs pos="100000">
                  <a:srgbClr val="757575"/>
                </a:gs>
              </a:gsLst>
              <a:lin ang="5400000"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txBox="1"/>
            <p:nvPr/>
          </p:nvSpPr>
          <p:spPr>
            <a:xfrm>
              <a:off x="767589" y="831008"/>
              <a:ext cx="7353799" cy="664579"/>
            </a:xfrm>
            <a:prstGeom prst="rect">
              <a:avLst/>
            </a:prstGeom>
            <a:noFill/>
            <a:ln>
              <a:noFill/>
            </a:ln>
          </p:spPr>
          <p:txBody>
            <a:bodyPr anchorCtr="0" anchor="ctr" bIns="70325" lIns="70325" spcFirstLastPara="1" rIns="70325" wrap="square" tIns="70325">
              <a:noAutofit/>
            </a:bodyPr>
            <a:lstStyle/>
            <a:p>
              <a:pPr indent="0" lvl="0" marL="0" marR="0" rtl="0" algn="l">
                <a:lnSpc>
                  <a:spcPct val="100000"/>
                </a:lnSpc>
                <a:spcBef>
                  <a:spcPts val="0"/>
                </a:spcBef>
                <a:spcAft>
                  <a:spcPts val="0"/>
                </a:spcAft>
                <a:buClr>
                  <a:schemeClr val="dk1"/>
                </a:buClr>
                <a:buSzPts val="1800"/>
                <a:buFont typeface="Garamond"/>
                <a:buNone/>
              </a:pPr>
              <a:r>
                <a:rPr lang="es-EC" sz="1800">
                  <a:solidFill>
                    <a:schemeClr val="dk1"/>
                  </a:solidFill>
                  <a:latin typeface="Garamond"/>
                  <a:ea typeface="Garamond"/>
                  <a:cs typeface="Garamond"/>
                  <a:sym typeface="Garamond"/>
                </a:rPr>
                <a:t>b. Clausura temporal de uno a ocho (8) días del establecimiento</a:t>
              </a:r>
              <a:endParaRPr sz="1800">
                <a:solidFill>
                  <a:schemeClr val="dk1"/>
                </a:solidFill>
                <a:latin typeface="Garamond"/>
                <a:ea typeface="Garamond"/>
                <a:cs typeface="Garamond"/>
                <a:sym typeface="Garamond"/>
              </a:endParaRPr>
            </a:p>
          </p:txBody>
        </p:sp>
        <p:sp>
          <p:nvSpPr>
            <p:cNvPr id="268" name="Google Shape;268;p8"/>
            <p:cNvSpPr/>
            <p:nvPr/>
          </p:nvSpPr>
          <p:spPr>
            <a:xfrm>
              <a:off x="0" y="1661732"/>
              <a:ext cx="8121389" cy="664579"/>
            </a:xfrm>
            <a:prstGeom prst="roundRect">
              <a:avLst>
                <a:gd fmla="val 10000" name="adj"/>
              </a:avLst>
            </a:prstGeom>
            <a:solidFill>
              <a:srgbClr val="D8DD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
            <p:cNvSpPr/>
            <p:nvPr/>
          </p:nvSpPr>
          <p:spPr>
            <a:xfrm>
              <a:off x="201035" y="1811262"/>
              <a:ext cx="365518" cy="365518"/>
            </a:xfrm>
            <a:prstGeom prst="rect">
              <a:avLst/>
            </a:prstGeom>
            <a:blipFill rotWithShape="1">
              <a:blip r:embed="rId6">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767589" y="1661732"/>
              <a:ext cx="7353799" cy="664579"/>
            </a:xfrm>
            <a:prstGeom prst="rect">
              <a:avLst/>
            </a:prstGeom>
            <a:gradFill>
              <a:gsLst>
                <a:gs pos="0">
                  <a:srgbClr val="B8B8B8"/>
                </a:gs>
                <a:gs pos="100000">
                  <a:srgbClr val="757575"/>
                </a:gs>
              </a:gsLst>
              <a:lin ang="5400000"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txBox="1"/>
            <p:nvPr/>
          </p:nvSpPr>
          <p:spPr>
            <a:xfrm>
              <a:off x="767589" y="1661732"/>
              <a:ext cx="7353799" cy="664579"/>
            </a:xfrm>
            <a:prstGeom prst="rect">
              <a:avLst/>
            </a:prstGeom>
            <a:noFill/>
            <a:ln>
              <a:noFill/>
            </a:ln>
          </p:spPr>
          <p:txBody>
            <a:bodyPr anchorCtr="0" anchor="ctr" bIns="70325" lIns="70325" spcFirstLastPara="1" rIns="70325" wrap="square" tIns="70325">
              <a:noAutofit/>
            </a:bodyPr>
            <a:lstStyle/>
            <a:p>
              <a:pPr indent="0" lvl="0" marL="0" marR="0" rtl="0" algn="l">
                <a:lnSpc>
                  <a:spcPct val="100000"/>
                </a:lnSpc>
                <a:spcBef>
                  <a:spcPts val="0"/>
                </a:spcBef>
                <a:spcAft>
                  <a:spcPts val="0"/>
                </a:spcAft>
                <a:buClr>
                  <a:schemeClr val="dk1"/>
                </a:buClr>
                <a:buSzPts val="1800"/>
                <a:buFont typeface="Garamond"/>
                <a:buNone/>
              </a:pPr>
              <a:r>
                <a:rPr lang="es-EC" sz="1800">
                  <a:solidFill>
                    <a:schemeClr val="dk1"/>
                  </a:solidFill>
                  <a:latin typeface="Garamond"/>
                  <a:ea typeface="Garamond"/>
                  <a:cs typeface="Garamond"/>
                  <a:sym typeface="Garamond"/>
                </a:rPr>
                <a:t>c. Clausura temporal de quince (15) días del establecimiento por reincidencia ulterior.</a:t>
              </a:r>
              <a:endParaRPr sz="1800">
                <a:solidFill>
                  <a:schemeClr val="dk1"/>
                </a:solidFill>
                <a:latin typeface="Garamond"/>
                <a:ea typeface="Garamond"/>
                <a:cs typeface="Garamond"/>
                <a:sym typeface="Garamond"/>
              </a:endParaRPr>
            </a:p>
          </p:txBody>
        </p:sp>
      </p:grpSp>
      <p:sp>
        <p:nvSpPr>
          <p:cNvPr id="272" name="Google Shape;272;p8"/>
          <p:cNvSpPr txBox="1"/>
          <p:nvPr/>
        </p:nvSpPr>
        <p:spPr>
          <a:xfrm>
            <a:off x="755249" y="4425290"/>
            <a:ext cx="60940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C" sz="1800">
                <a:solidFill>
                  <a:srgbClr val="C00000"/>
                </a:solidFill>
                <a:latin typeface="Garamond"/>
                <a:ea typeface="Garamond"/>
                <a:cs typeface="Garamond"/>
                <a:sym typeface="Garamond"/>
              </a:rPr>
              <a:t>Art. 32.- </a:t>
            </a:r>
            <a:r>
              <a:rPr b="1" lang="es-EC" sz="1800">
                <a:solidFill>
                  <a:schemeClr val="dk1"/>
                </a:solidFill>
                <a:latin typeface="Garamond"/>
                <a:ea typeface="Garamond"/>
                <a:cs typeface="Garamond"/>
                <a:sym typeface="Garamond"/>
              </a:rPr>
              <a:t>Incumplimiento a las restricciones al consumo</a:t>
            </a:r>
            <a:endParaRPr b="1" sz="1800">
              <a:solidFill>
                <a:schemeClr val="dk1"/>
              </a:solidFill>
              <a:latin typeface="Garamond"/>
              <a:ea typeface="Garamond"/>
              <a:cs typeface="Garamond"/>
              <a:sym typeface="Garamond"/>
            </a:endParaRPr>
          </a:p>
        </p:txBody>
      </p:sp>
      <p:sp>
        <p:nvSpPr>
          <p:cNvPr id="273" name="Google Shape;273;p8"/>
          <p:cNvSpPr txBox="1"/>
          <p:nvPr/>
        </p:nvSpPr>
        <p:spPr>
          <a:xfrm>
            <a:off x="755249" y="4758386"/>
            <a:ext cx="8669438"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C" sz="1800">
                <a:solidFill>
                  <a:schemeClr val="dk1"/>
                </a:solidFill>
                <a:latin typeface="Garamond"/>
                <a:ea typeface="Garamond"/>
                <a:cs typeface="Garamond"/>
                <a:sym typeface="Garamond"/>
              </a:rPr>
              <a:t>Multa de 1 a 5 RBU del trabajador privado general. </a:t>
            </a:r>
            <a:endParaRPr/>
          </a:p>
          <a:p>
            <a:pPr indent="0" lvl="0" marL="0" marR="0" rtl="0" algn="l">
              <a:spcBef>
                <a:spcPts val="0"/>
              </a:spcBef>
              <a:spcAft>
                <a:spcPts val="0"/>
              </a:spcAft>
              <a:buNone/>
            </a:pPr>
            <a:r>
              <a:rPr lang="es-EC" sz="1800">
                <a:solidFill>
                  <a:schemeClr val="dk1"/>
                </a:solidFill>
                <a:latin typeface="Garamond"/>
                <a:ea typeface="Garamond"/>
                <a:cs typeface="Garamond"/>
                <a:sym typeface="Garamond"/>
              </a:rPr>
              <a:t>En caso de reincidencia, se le impondrá multa 6 a 10 RBU. </a:t>
            </a:r>
            <a:endParaRPr/>
          </a:p>
          <a:p>
            <a:pPr indent="0" lvl="0" marL="0" marR="0" rtl="0" algn="l">
              <a:spcBef>
                <a:spcPts val="0"/>
              </a:spcBef>
              <a:spcAft>
                <a:spcPts val="0"/>
              </a:spcAft>
              <a:buNone/>
            </a:pPr>
            <a:r>
              <a:rPr lang="es-EC" sz="1800">
                <a:solidFill>
                  <a:schemeClr val="dk1"/>
                </a:solidFill>
                <a:latin typeface="Garamond"/>
                <a:ea typeface="Garamond"/>
                <a:cs typeface="Garamond"/>
                <a:sym typeface="Garamond"/>
              </a:rPr>
              <a:t>En 2da reincidencia, la sanción será de clausura temporal del establecimiento de 1 a 8 días.</a:t>
            </a:r>
            <a:endParaRPr/>
          </a:p>
          <a:p>
            <a:pPr indent="0" lvl="0" marL="0" marR="0" rtl="0" algn="l">
              <a:spcBef>
                <a:spcPts val="0"/>
              </a:spcBef>
              <a:spcAft>
                <a:spcPts val="0"/>
              </a:spcAft>
              <a:buNone/>
            </a:pPr>
            <a:r>
              <a:rPr lang="es-EC" sz="1800">
                <a:solidFill>
                  <a:schemeClr val="dk1"/>
                </a:solidFill>
                <a:latin typeface="Garamond"/>
                <a:ea typeface="Garamond"/>
                <a:cs typeface="Garamond"/>
                <a:sym typeface="Garamond"/>
              </a:rPr>
              <a:t>Casos reincidencia ulterior, el establecimiento será sancionado con clausura de (15) días.</a:t>
            </a:r>
            <a:endParaRPr sz="1800">
              <a:solidFill>
                <a:schemeClr val="dk1"/>
              </a:solidFill>
              <a:latin typeface="Garamond"/>
              <a:ea typeface="Garamond"/>
              <a:cs typeface="Garamond"/>
              <a:sym typeface="Garamond"/>
            </a:endParaRPr>
          </a:p>
        </p:txBody>
      </p:sp>
      <p:pic>
        <p:nvPicPr>
          <p:cNvPr descr="Empresa Libre de Humo" id="274" name="Google Shape;274;p8"/>
          <p:cNvPicPr preferRelativeResize="0"/>
          <p:nvPr/>
        </p:nvPicPr>
        <p:blipFill rotWithShape="1">
          <a:blip r:embed="rId7">
            <a:alphaModFix/>
          </a:blip>
          <a:srcRect b="0" l="0" r="0" t="0"/>
          <a:stretch/>
        </p:blipFill>
        <p:spPr>
          <a:xfrm>
            <a:off x="9673534" y="4236540"/>
            <a:ext cx="2044869" cy="204486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descr="Salario básico, un desafío para las pequeñas empresas – Diario La Hora" id="279" name="Google Shape;279;p9"/>
          <p:cNvPicPr preferRelativeResize="0"/>
          <p:nvPr/>
        </p:nvPicPr>
        <p:blipFill rotWithShape="1">
          <a:blip r:embed="rId3">
            <a:alphaModFix/>
          </a:blip>
          <a:srcRect b="0" l="0" r="0" t="0"/>
          <a:stretch/>
        </p:blipFill>
        <p:spPr>
          <a:xfrm>
            <a:off x="212202" y="3125165"/>
            <a:ext cx="3320147" cy="2249240"/>
          </a:xfrm>
          <a:prstGeom prst="rect">
            <a:avLst/>
          </a:prstGeom>
          <a:noFill/>
          <a:ln>
            <a:noFill/>
          </a:ln>
        </p:spPr>
      </p:pic>
      <p:grpSp>
        <p:nvGrpSpPr>
          <p:cNvPr id="280" name="Google Shape;280;p9"/>
          <p:cNvGrpSpPr/>
          <p:nvPr/>
        </p:nvGrpSpPr>
        <p:grpSpPr>
          <a:xfrm>
            <a:off x="2434543" y="486136"/>
            <a:ext cx="9545254" cy="5409127"/>
            <a:chOff x="0" y="0"/>
            <a:chExt cx="9545254" cy="5409127"/>
          </a:xfrm>
        </p:grpSpPr>
        <p:sp>
          <p:nvSpPr>
            <p:cNvPr id="281" name="Google Shape;281;p9"/>
            <p:cNvSpPr/>
            <p:nvPr/>
          </p:nvSpPr>
          <p:spPr>
            <a:xfrm>
              <a:off x="0" y="0"/>
              <a:ext cx="8113466" cy="1622738"/>
            </a:xfrm>
            <a:prstGeom prst="roundRect">
              <a:avLst>
                <a:gd fmla="val 10000" name="adj"/>
              </a:avLst>
            </a:prstGeom>
            <a:solidFill>
              <a:srgbClr val="D3F1E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9"/>
            <p:cNvSpPr txBox="1"/>
            <p:nvPr/>
          </p:nvSpPr>
          <p:spPr>
            <a:xfrm>
              <a:off x="47528" y="47528"/>
              <a:ext cx="6362406" cy="1527682"/>
            </a:xfrm>
            <a:prstGeom prst="rect">
              <a:avLst/>
            </a:prstGeom>
            <a:noFill/>
            <a:ln>
              <a:noFill/>
            </a:ln>
          </p:spPr>
          <p:txBody>
            <a:bodyPr anchorCtr="0" anchor="ctr" bIns="60950" lIns="60950" spcFirstLastPara="1" rIns="60950" wrap="square" tIns="60950">
              <a:noAutofit/>
            </a:bodyPr>
            <a:lstStyle/>
            <a:p>
              <a:pPr indent="0" lvl="0" marL="0" marR="0" rtl="0" algn="just">
                <a:lnSpc>
                  <a:spcPct val="90000"/>
                </a:lnSpc>
                <a:spcBef>
                  <a:spcPts val="0"/>
                </a:spcBef>
                <a:spcAft>
                  <a:spcPts val="0"/>
                </a:spcAft>
                <a:buClr>
                  <a:srgbClr val="C00000"/>
                </a:buClr>
                <a:buSzPts val="1600"/>
                <a:buFont typeface="Garamond"/>
                <a:buNone/>
              </a:pPr>
              <a:r>
                <a:rPr b="1" lang="es-EC" sz="1600">
                  <a:solidFill>
                    <a:srgbClr val="C00000"/>
                  </a:solidFill>
                  <a:latin typeface="Garamond"/>
                  <a:ea typeface="Garamond"/>
                  <a:cs typeface="Garamond"/>
                  <a:sym typeface="Garamond"/>
                </a:rPr>
                <a:t>Art. 37.- </a:t>
              </a:r>
              <a:r>
                <a:rPr b="1" lang="es-EC" sz="1600">
                  <a:solidFill>
                    <a:schemeClr val="dk1"/>
                  </a:solidFill>
                  <a:latin typeface="Garamond"/>
                  <a:ea typeface="Garamond"/>
                  <a:cs typeface="Garamond"/>
                  <a:sym typeface="Garamond"/>
                </a:rPr>
                <a:t>Incumplimiento por parte de la persona fumadora.- </a:t>
              </a:r>
              <a:r>
                <a:rPr lang="es-EC" sz="1600">
                  <a:solidFill>
                    <a:schemeClr val="dk1"/>
                  </a:solidFill>
                  <a:latin typeface="Garamond"/>
                  <a:ea typeface="Garamond"/>
                  <a:cs typeface="Garamond"/>
                  <a:sym typeface="Garamond"/>
                </a:rPr>
                <a:t>Toda persona que haga uso de productos de tabaco en </a:t>
              </a:r>
              <a:r>
                <a:rPr b="1" lang="es-EC" sz="1600">
                  <a:solidFill>
                    <a:schemeClr val="dk1"/>
                  </a:solidFill>
                  <a:latin typeface="Garamond"/>
                  <a:ea typeface="Garamond"/>
                  <a:cs typeface="Garamond"/>
                  <a:sym typeface="Garamond"/>
                </a:rPr>
                <a:t>espacios definidos como cien por ciento (100%) libres de humo</a:t>
              </a:r>
              <a:r>
                <a:rPr lang="es-EC" sz="1600">
                  <a:solidFill>
                    <a:schemeClr val="dk1"/>
                  </a:solidFill>
                  <a:latin typeface="Garamond"/>
                  <a:ea typeface="Garamond"/>
                  <a:cs typeface="Garamond"/>
                  <a:sym typeface="Garamond"/>
                </a:rPr>
                <a:t>, de acuerdo a la presente Ley, será sancionada con multa equivalente al 25% de la RBU del trabajador privado en general que será cobrada de conformidad con el procedimiento que establezca para el efecto el reglamento de la presente Ley.</a:t>
              </a:r>
              <a:endParaRPr sz="1600">
                <a:solidFill>
                  <a:schemeClr val="dk1"/>
                </a:solidFill>
                <a:latin typeface="Garamond"/>
                <a:ea typeface="Garamond"/>
                <a:cs typeface="Garamond"/>
                <a:sym typeface="Garamond"/>
              </a:endParaRPr>
            </a:p>
          </p:txBody>
        </p:sp>
        <p:sp>
          <p:nvSpPr>
            <p:cNvPr id="283" name="Google Shape;283;p9"/>
            <p:cNvSpPr/>
            <p:nvPr/>
          </p:nvSpPr>
          <p:spPr>
            <a:xfrm>
              <a:off x="715894" y="1893194"/>
              <a:ext cx="8113466" cy="1622738"/>
            </a:xfrm>
            <a:prstGeom prst="roundRect">
              <a:avLst>
                <a:gd fmla="val 10000" name="adj"/>
              </a:avLst>
            </a:prstGeom>
            <a:gradFill>
              <a:gsLst>
                <a:gs pos="0">
                  <a:srgbClr val="C4CDD9"/>
                </a:gs>
                <a:gs pos="100000">
                  <a:srgbClr val="8197B4"/>
                </a:gs>
              </a:gsLst>
              <a:lin ang="5400000" scaled="0"/>
            </a:gra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9"/>
            <p:cNvSpPr txBox="1"/>
            <p:nvPr/>
          </p:nvSpPr>
          <p:spPr>
            <a:xfrm>
              <a:off x="763422" y="1940722"/>
              <a:ext cx="6247736" cy="1527682"/>
            </a:xfrm>
            <a:prstGeom prst="rect">
              <a:avLst/>
            </a:prstGeom>
            <a:noFill/>
            <a:ln>
              <a:noFill/>
            </a:ln>
          </p:spPr>
          <p:txBody>
            <a:bodyPr anchorCtr="0" anchor="ctr" bIns="68575" lIns="68575" spcFirstLastPara="1" rIns="68575" wrap="square" tIns="68575">
              <a:noAutofit/>
            </a:bodyPr>
            <a:lstStyle/>
            <a:p>
              <a:pPr indent="0" lvl="0" marL="0" marR="0" rtl="0" algn="just">
                <a:lnSpc>
                  <a:spcPct val="90000"/>
                </a:lnSpc>
                <a:spcBef>
                  <a:spcPts val="0"/>
                </a:spcBef>
                <a:spcAft>
                  <a:spcPts val="0"/>
                </a:spcAft>
                <a:buClr>
                  <a:srgbClr val="C00000"/>
                </a:buClr>
                <a:buSzPts val="1800"/>
                <a:buFont typeface="Garamond"/>
                <a:buNone/>
              </a:pPr>
              <a:r>
                <a:rPr b="1" lang="es-EC" sz="1800">
                  <a:solidFill>
                    <a:srgbClr val="C00000"/>
                  </a:solidFill>
                  <a:latin typeface="Garamond"/>
                  <a:ea typeface="Garamond"/>
                  <a:cs typeface="Garamond"/>
                  <a:sym typeface="Garamond"/>
                </a:rPr>
                <a:t>Art. 38.- </a:t>
              </a:r>
              <a:r>
                <a:rPr b="1" lang="es-EC" sz="1800">
                  <a:solidFill>
                    <a:schemeClr val="dk1"/>
                  </a:solidFill>
                  <a:latin typeface="Garamond"/>
                  <a:ea typeface="Garamond"/>
                  <a:cs typeface="Garamond"/>
                  <a:sym typeface="Garamond"/>
                </a:rPr>
                <a:t>Sanción a servidores públicos.- </a:t>
              </a:r>
              <a:r>
                <a:rPr lang="es-EC" sz="1800">
                  <a:solidFill>
                    <a:schemeClr val="dk1"/>
                  </a:solidFill>
                  <a:latin typeface="Garamond"/>
                  <a:ea typeface="Garamond"/>
                  <a:cs typeface="Garamond"/>
                  <a:sym typeface="Garamond"/>
                </a:rPr>
                <a:t>La sanción a servidores públicos que incumplan con esta Ley dentro del ejercicio de sus funciones, se aplicarán de acuerdo a lo dispuesto en la Ley que regula el ejercicio del servicio público y su reglamento. </a:t>
              </a:r>
              <a:endParaRPr sz="1800">
                <a:solidFill>
                  <a:schemeClr val="dk1"/>
                </a:solidFill>
                <a:latin typeface="Garamond"/>
                <a:ea typeface="Garamond"/>
                <a:cs typeface="Garamond"/>
                <a:sym typeface="Garamond"/>
              </a:endParaRPr>
            </a:p>
          </p:txBody>
        </p:sp>
        <p:sp>
          <p:nvSpPr>
            <p:cNvPr id="285" name="Google Shape;285;p9"/>
            <p:cNvSpPr/>
            <p:nvPr/>
          </p:nvSpPr>
          <p:spPr>
            <a:xfrm>
              <a:off x="1431788" y="3786389"/>
              <a:ext cx="8113466" cy="1622738"/>
            </a:xfrm>
            <a:prstGeom prst="roundRect">
              <a:avLst>
                <a:gd fmla="val 10000" name="adj"/>
              </a:avLst>
            </a:prstGeom>
            <a:gradFill>
              <a:gsLst>
                <a:gs pos="0">
                  <a:srgbClr val="C3D7CC"/>
                </a:gs>
                <a:gs pos="100000">
                  <a:srgbClr val="7FAF97"/>
                </a:gs>
              </a:gsLst>
              <a:lin ang="5400000"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txBox="1"/>
            <p:nvPr/>
          </p:nvSpPr>
          <p:spPr>
            <a:xfrm>
              <a:off x="1479316" y="3833917"/>
              <a:ext cx="6247736" cy="1527682"/>
            </a:xfrm>
            <a:prstGeom prst="rect">
              <a:avLst/>
            </a:prstGeom>
            <a:noFill/>
            <a:ln>
              <a:noFill/>
            </a:ln>
          </p:spPr>
          <p:txBody>
            <a:bodyPr anchorCtr="0" anchor="ctr" bIns="68575" lIns="68575" spcFirstLastPara="1" rIns="68575" wrap="square" tIns="68575">
              <a:noAutofit/>
            </a:bodyPr>
            <a:lstStyle/>
            <a:p>
              <a:pPr indent="0" lvl="0" marL="0" marR="0" rtl="0" algn="just">
                <a:lnSpc>
                  <a:spcPct val="90000"/>
                </a:lnSpc>
                <a:spcBef>
                  <a:spcPts val="0"/>
                </a:spcBef>
                <a:spcAft>
                  <a:spcPts val="0"/>
                </a:spcAft>
                <a:buClr>
                  <a:srgbClr val="C00000"/>
                </a:buClr>
                <a:buSzPts val="1800"/>
                <a:buFont typeface="Garamond"/>
                <a:buNone/>
              </a:pPr>
              <a:r>
                <a:rPr b="1" lang="es-EC" sz="1800">
                  <a:solidFill>
                    <a:srgbClr val="C00000"/>
                  </a:solidFill>
                  <a:latin typeface="Garamond"/>
                  <a:ea typeface="Garamond"/>
                  <a:cs typeface="Garamond"/>
                  <a:sym typeface="Garamond"/>
                </a:rPr>
                <a:t>Art. 39.- </a:t>
              </a:r>
              <a:r>
                <a:rPr b="1" lang="es-EC" sz="1800">
                  <a:solidFill>
                    <a:schemeClr val="dk1"/>
                  </a:solidFill>
                  <a:latin typeface="Garamond"/>
                  <a:ea typeface="Garamond"/>
                  <a:cs typeface="Garamond"/>
                  <a:sym typeface="Garamond"/>
                </a:rPr>
                <a:t>Jurisdicción coactiva.- </a:t>
              </a:r>
              <a:r>
                <a:rPr lang="es-EC" sz="1800">
                  <a:solidFill>
                    <a:schemeClr val="dk1"/>
                  </a:solidFill>
                  <a:latin typeface="Garamond"/>
                  <a:ea typeface="Garamond"/>
                  <a:cs typeface="Garamond"/>
                  <a:sym typeface="Garamond"/>
                </a:rPr>
                <a:t>Para el cobro de las multas impuestas por la aplicación de la presente Ley, la Autoridad Sanitaria Nacional tendrá jurisdicción coactiva, para lo cual se seguirá el procedimiento establecido en el Código de Procedimiento Civil.</a:t>
              </a:r>
              <a:endParaRPr sz="1800">
                <a:solidFill>
                  <a:schemeClr val="dk1"/>
                </a:solidFill>
                <a:latin typeface="Garamond"/>
                <a:ea typeface="Garamond"/>
                <a:cs typeface="Garamond"/>
                <a:sym typeface="Garamond"/>
              </a:endParaRPr>
            </a:p>
          </p:txBody>
        </p:sp>
        <p:sp>
          <p:nvSpPr>
            <p:cNvPr id="287" name="Google Shape;287;p9"/>
            <p:cNvSpPr/>
            <p:nvPr/>
          </p:nvSpPr>
          <p:spPr>
            <a:xfrm>
              <a:off x="7058686" y="1230576"/>
              <a:ext cx="1054779" cy="1054779"/>
            </a:xfrm>
            <a:prstGeom prst="downArrow">
              <a:avLst>
                <a:gd fmla="val 55000" name="adj1"/>
                <a:gd fmla="val 45000" name="adj2"/>
              </a:avLst>
            </a:prstGeom>
            <a:solidFill>
              <a:srgbClr val="D8DDC9">
                <a:alpha val="90196"/>
              </a:srgbClr>
            </a:solidFill>
            <a:ln cap="flat" cmpd="sng" w="15875">
              <a:solidFill>
                <a:srgbClr val="D8DDC9">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9"/>
            <p:cNvSpPr txBox="1"/>
            <p:nvPr/>
          </p:nvSpPr>
          <p:spPr>
            <a:xfrm>
              <a:off x="7296011" y="1230576"/>
              <a:ext cx="580129" cy="793721"/>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Garamond"/>
                <a:buNone/>
              </a:pPr>
              <a:r>
                <a:t/>
              </a:r>
              <a:endParaRPr sz="3600">
                <a:solidFill>
                  <a:schemeClr val="dk1"/>
                </a:solidFill>
                <a:latin typeface="Garamond"/>
                <a:ea typeface="Garamond"/>
                <a:cs typeface="Garamond"/>
                <a:sym typeface="Garamond"/>
              </a:endParaRPr>
            </a:p>
          </p:txBody>
        </p:sp>
        <p:sp>
          <p:nvSpPr>
            <p:cNvPr id="289" name="Google Shape;289;p9"/>
            <p:cNvSpPr/>
            <p:nvPr/>
          </p:nvSpPr>
          <p:spPr>
            <a:xfrm>
              <a:off x="7774580" y="3112953"/>
              <a:ext cx="1054779" cy="1054779"/>
            </a:xfrm>
            <a:prstGeom prst="downArrow">
              <a:avLst>
                <a:gd fmla="val 55000" name="adj1"/>
                <a:gd fmla="val 45000" name="adj2"/>
              </a:avLst>
            </a:prstGeom>
            <a:solidFill>
              <a:srgbClr val="D8DDC9">
                <a:alpha val="90196"/>
              </a:srgbClr>
            </a:solidFill>
            <a:ln cap="flat" cmpd="sng" w="15875">
              <a:solidFill>
                <a:srgbClr val="D8DDC9">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9"/>
            <p:cNvSpPr txBox="1"/>
            <p:nvPr/>
          </p:nvSpPr>
          <p:spPr>
            <a:xfrm>
              <a:off x="8011905" y="3112953"/>
              <a:ext cx="580129" cy="793721"/>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Garamond"/>
                <a:buNone/>
              </a:pPr>
              <a:r>
                <a:t/>
              </a:r>
              <a:endParaRPr sz="3600">
                <a:solidFill>
                  <a:schemeClr val="dk1"/>
                </a:solidFill>
                <a:latin typeface="Garamond"/>
                <a:ea typeface="Garamond"/>
                <a:cs typeface="Garamond"/>
                <a:sym typeface="Garamond"/>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0"/>
          <p:cNvSpPr txBox="1"/>
          <p:nvPr>
            <p:ph idx="4294967295" type="subTitle"/>
          </p:nvPr>
        </p:nvSpPr>
        <p:spPr>
          <a:xfrm>
            <a:off x="1066800" y="2112058"/>
            <a:ext cx="10058400" cy="203041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1"/>
              </a:buClr>
              <a:buSzPts val="5520"/>
              <a:buFont typeface="Arial"/>
              <a:buNone/>
            </a:pPr>
            <a:r>
              <a:rPr b="1" i="1" lang="es-EC" sz="4800" u="none" cap="none" strike="noStrike">
                <a:solidFill>
                  <a:srgbClr val="002060"/>
                </a:solidFill>
                <a:latin typeface="Garamond"/>
                <a:ea typeface="Garamond"/>
                <a:cs typeface="Garamond"/>
                <a:sym typeface="Garamond"/>
              </a:rPr>
              <a:t>SOCIALIZACIÓN DEL REGLAMENTO DE LA LEY ORGÁNICA PARA REGULACIÓN Y CONTROL DEL TABACO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1"/>
          <p:cNvSpPr/>
          <p:nvPr/>
        </p:nvSpPr>
        <p:spPr>
          <a:xfrm>
            <a:off x="417095" y="1052684"/>
            <a:ext cx="3641558" cy="1042737"/>
          </a:xfrm>
          <a:prstGeom prst="rightArrow">
            <a:avLst>
              <a:gd fmla="val 50000" name="adj1"/>
              <a:gd fmla="val 50000" name="adj2"/>
            </a:avLst>
          </a:prstGeom>
          <a:solidFill>
            <a:srgbClr val="EAF1CC"/>
          </a:solidFill>
          <a:ln cap="flat" cmpd="sng" w="9525">
            <a:solidFill>
              <a:srgbClr val="A359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C" sz="1800">
                <a:solidFill>
                  <a:srgbClr val="000000"/>
                </a:solidFill>
                <a:latin typeface="Garamond"/>
                <a:ea typeface="Garamond"/>
                <a:cs typeface="Garamond"/>
                <a:sym typeface="Garamond"/>
              </a:rPr>
              <a:t>CONSTITUCIÓN DE LA REPÚBLICA</a:t>
            </a:r>
            <a:endParaRPr/>
          </a:p>
        </p:txBody>
      </p:sp>
      <p:sp>
        <p:nvSpPr>
          <p:cNvPr id="301" name="Google Shape;301;p11"/>
          <p:cNvSpPr txBox="1"/>
          <p:nvPr/>
        </p:nvSpPr>
        <p:spPr>
          <a:xfrm>
            <a:off x="4186989" y="617621"/>
            <a:ext cx="7523748" cy="2031325"/>
          </a:xfrm>
          <a:prstGeom prst="rect">
            <a:avLst/>
          </a:prstGeom>
          <a:solidFill>
            <a:srgbClr val="FFFFCC"/>
          </a:solidFill>
          <a:ln cap="flat" cmpd="sng" w="28575">
            <a:solidFill>
              <a:srgbClr val="792D26"/>
            </a:solidFill>
            <a:prstDash val="lgDash"/>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C" sz="1800" u="none" strike="noStrike">
                <a:solidFill>
                  <a:schemeClr val="dk1"/>
                </a:solidFill>
                <a:latin typeface="Arial"/>
                <a:ea typeface="Arial"/>
                <a:cs typeface="Arial"/>
                <a:sym typeface="Arial"/>
              </a:rPr>
              <a:t>ART. 364 </a:t>
            </a:r>
            <a:r>
              <a:rPr b="0" i="0" lang="es-EC" sz="1800" u="none" strike="noStrike">
                <a:solidFill>
                  <a:schemeClr val="dk1"/>
                </a:solidFill>
                <a:latin typeface="Arial"/>
                <a:ea typeface="Arial"/>
                <a:cs typeface="Arial"/>
                <a:sym typeface="Arial"/>
              </a:rPr>
              <a:t>Establece que las adicciones son un problema de salud pública y que al Estado le corresponderá desarrollar programas coordinados de información, </a:t>
            </a:r>
            <a:r>
              <a:rPr b="1" i="0" lang="es-EC" sz="1800" u="none" strike="noStrike">
                <a:solidFill>
                  <a:schemeClr val="dk1"/>
                </a:solidFill>
                <a:latin typeface="Arial"/>
                <a:ea typeface="Arial"/>
                <a:cs typeface="Arial"/>
                <a:sym typeface="Arial"/>
              </a:rPr>
              <a:t>prevención y control del consumo de alcohol, tabaco y sustancias estupefacientes y psicotrópicas</a:t>
            </a:r>
            <a:r>
              <a:rPr b="0" i="0" lang="es-EC" sz="1800" u="none" strike="noStrike">
                <a:solidFill>
                  <a:schemeClr val="dk1"/>
                </a:solidFill>
                <a:latin typeface="Arial"/>
                <a:ea typeface="Arial"/>
                <a:cs typeface="Arial"/>
                <a:sym typeface="Arial"/>
              </a:rPr>
              <a:t>; así como ofrecer tratamiento y rehabilitación a los consumidores ocasionales, habituales y problemáticos, además del control y regulación de la publicidad de alcohol y tabaco.</a:t>
            </a:r>
            <a:endParaRPr sz="1800">
              <a:solidFill>
                <a:schemeClr val="dk1"/>
              </a:solidFill>
              <a:latin typeface="Garamond"/>
              <a:ea typeface="Garamond"/>
              <a:cs typeface="Garamond"/>
              <a:sym typeface="Garamond"/>
            </a:endParaRPr>
          </a:p>
        </p:txBody>
      </p:sp>
      <p:grpSp>
        <p:nvGrpSpPr>
          <p:cNvPr id="302" name="Google Shape;302;p11"/>
          <p:cNvGrpSpPr/>
          <p:nvPr/>
        </p:nvGrpSpPr>
        <p:grpSpPr>
          <a:xfrm>
            <a:off x="4224892" y="3285362"/>
            <a:ext cx="7522811" cy="2656686"/>
            <a:chOff x="468" y="237361"/>
            <a:chExt cx="7522811" cy="2656686"/>
          </a:xfrm>
        </p:grpSpPr>
        <p:sp>
          <p:nvSpPr>
            <p:cNvPr id="303" name="Google Shape;303;p11"/>
            <p:cNvSpPr/>
            <p:nvPr/>
          </p:nvSpPr>
          <p:spPr>
            <a:xfrm>
              <a:off x="147857" y="397032"/>
              <a:ext cx="3537337" cy="1105417"/>
            </a:xfrm>
            <a:prstGeom prst="rect">
              <a:avLst/>
            </a:prstGeom>
            <a:solidFill>
              <a:schemeClr val="lt1">
                <a:alpha val="40000"/>
              </a:schemeClr>
            </a:solidFill>
            <a:ln cap="flat" cmpd="sng" w="9525">
              <a:solidFill>
                <a:srgbClr val="8299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txBox="1"/>
            <p:nvPr/>
          </p:nvSpPr>
          <p:spPr>
            <a:xfrm>
              <a:off x="147857" y="397032"/>
              <a:ext cx="3537337" cy="1105417"/>
            </a:xfrm>
            <a:prstGeom prst="rect">
              <a:avLst/>
            </a:prstGeom>
            <a:noFill/>
            <a:ln>
              <a:noFill/>
            </a:ln>
          </p:spPr>
          <p:txBody>
            <a:bodyPr anchorCtr="0" anchor="ctr" bIns="87625" lIns="748725" spcFirstLastPara="1" rIns="87625" wrap="square" tIns="87625">
              <a:noAutofit/>
            </a:bodyPr>
            <a:lstStyle/>
            <a:p>
              <a:pPr indent="0" lvl="0" marL="0" marR="0" rtl="0" algn="l">
                <a:lnSpc>
                  <a:spcPct val="90000"/>
                </a:lnSpc>
                <a:spcBef>
                  <a:spcPts val="0"/>
                </a:spcBef>
                <a:spcAft>
                  <a:spcPts val="0"/>
                </a:spcAft>
                <a:buClr>
                  <a:schemeClr val="dk1"/>
                </a:buClr>
                <a:buSzPts val="2300"/>
                <a:buFont typeface="Garamond"/>
                <a:buNone/>
              </a:pPr>
              <a:r>
                <a:rPr lang="es-EC" sz="2300">
                  <a:solidFill>
                    <a:schemeClr val="dk1"/>
                  </a:solidFill>
                  <a:latin typeface="Garamond"/>
                  <a:ea typeface="Garamond"/>
                  <a:cs typeface="Garamond"/>
                  <a:sym typeface="Garamond"/>
                </a:rPr>
                <a:t>Tumores malignos</a:t>
              </a:r>
              <a:endParaRPr/>
            </a:p>
          </p:txBody>
        </p:sp>
        <p:sp>
          <p:nvSpPr>
            <p:cNvPr id="305" name="Google Shape;305;p11"/>
            <p:cNvSpPr/>
            <p:nvPr/>
          </p:nvSpPr>
          <p:spPr>
            <a:xfrm>
              <a:off x="468" y="237361"/>
              <a:ext cx="773792" cy="1160688"/>
            </a:xfrm>
            <a:prstGeom prst="rect">
              <a:avLst/>
            </a:prstGeom>
            <a:blipFill rotWithShape="1">
              <a:blip r:embed="rId3">
                <a:alphaModFix/>
              </a:blip>
              <a:stretch>
                <a:fillRect b="0" l="-83000" r="-8300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3985942" y="397032"/>
              <a:ext cx="3537337" cy="1105417"/>
            </a:xfrm>
            <a:prstGeom prst="rect">
              <a:avLst/>
            </a:prstGeom>
            <a:solidFill>
              <a:schemeClr val="lt1">
                <a:alpha val="40000"/>
              </a:schemeClr>
            </a:solidFill>
            <a:ln cap="flat" cmpd="sng" w="9525">
              <a:solidFill>
                <a:srgbClr val="8299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txBox="1"/>
            <p:nvPr/>
          </p:nvSpPr>
          <p:spPr>
            <a:xfrm>
              <a:off x="3985942" y="397032"/>
              <a:ext cx="3537337" cy="1105417"/>
            </a:xfrm>
            <a:prstGeom prst="rect">
              <a:avLst/>
            </a:prstGeom>
            <a:noFill/>
            <a:ln>
              <a:noFill/>
            </a:ln>
          </p:spPr>
          <p:txBody>
            <a:bodyPr anchorCtr="0" anchor="ctr" bIns="87625" lIns="748725" spcFirstLastPara="1" rIns="87625" wrap="square" tIns="87625">
              <a:noAutofit/>
            </a:bodyPr>
            <a:lstStyle/>
            <a:p>
              <a:pPr indent="0" lvl="0" marL="0" marR="0" rtl="0" algn="l">
                <a:lnSpc>
                  <a:spcPct val="90000"/>
                </a:lnSpc>
                <a:spcBef>
                  <a:spcPts val="0"/>
                </a:spcBef>
                <a:spcAft>
                  <a:spcPts val="0"/>
                </a:spcAft>
                <a:buClr>
                  <a:schemeClr val="dk1"/>
                </a:buClr>
                <a:buSzPts val="2300"/>
                <a:buFont typeface="Garamond"/>
                <a:buNone/>
              </a:pPr>
              <a:r>
                <a:rPr lang="es-EC" sz="2300">
                  <a:solidFill>
                    <a:schemeClr val="dk1"/>
                  </a:solidFill>
                  <a:latin typeface="Garamond"/>
                  <a:ea typeface="Garamond"/>
                  <a:cs typeface="Garamond"/>
                  <a:sym typeface="Garamond"/>
                </a:rPr>
                <a:t>Enfermedades cardio y cerebro vasculares</a:t>
              </a:r>
              <a:endParaRPr/>
            </a:p>
          </p:txBody>
        </p:sp>
        <p:sp>
          <p:nvSpPr>
            <p:cNvPr id="308" name="Google Shape;308;p11"/>
            <p:cNvSpPr/>
            <p:nvPr/>
          </p:nvSpPr>
          <p:spPr>
            <a:xfrm>
              <a:off x="3838553" y="237361"/>
              <a:ext cx="773792" cy="1160688"/>
            </a:xfrm>
            <a:prstGeom prst="rect">
              <a:avLst/>
            </a:prstGeom>
            <a:blipFill rotWithShape="1">
              <a:blip r:embed="rId4">
                <a:alphaModFix/>
              </a:blip>
              <a:stretch>
                <a:fillRect b="0" l="-75000" r="-7500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2066899" y="1788630"/>
              <a:ext cx="3537337" cy="1105417"/>
            </a:xfrm>
            <a:prstGeom prst="rect">
              <a:avLst/>
            </a:prstGeom>
            <a:solidFill>
              <a:schemeClr val="lt1">
                <a:alpha val="40000"/>
              </a:schemeClr>
            </a:solidFill>
            <a:ln cap="flat" cmpd="sng" w="9525">
              <a:solidFill>
                <a:srgbClr val="8299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txBox="1"/>
            <p:nvPr/>
          </p:nvSpPr>
          <p:spPr>
            <a:xfrm>
              <a:off x="2066899" y="1788630"/>
              <a:ext cx="3537337" cy="1105417"/>
            </a:xfrm>
            <a:prstGeom prst="rect">
              <a:avLst/>
            </a:prstGeom>
            <a:noFill/>
            <a:ln>
              <a:noFill/>
            </a:ln>
          </p:spPr>
          <p:txBody>
            <a:bodyPr anchorCtr="0" anchor="ctr" bIns="87625" lIns="748725" spcFirstLastPara="1" rIns="87625" wrap="square" tIns="87625">
              <a:noAutofit/>
            </a:bodyPr>
            <a:lstStyle/>
            <a:p>
              <a:pPr indent="0" lvl="0" marL="0" marR="0" rtl="0" algn="l">
                <a:lnSpc>
                  <a:spcPct val="90000"/>
                </a:lnSpc>
                <a:spcBef>
                  <a:spcPts val="0"/>
                </a:spcBef>
                <a:spcAft>
                  <a:spcPts val="0"/>
                </a:spcAft>
                <a:buClr>
                  <a:schemeClr val="dk1"/>
                </a:buClr>
                <a:buSzPts val="2300"/>
                <a:buFont typeface="Garamond"/>
                <a:buNone/>
              </a:pPr>
              <a:r>
                <a:rPr lang="es-EC" sz="2300">
                  <a:solidFill>
                    <a:schemeClr val="dk1"/>
                  </a:solidFill>
                  <a:latin typeface="Garamond"/>
                  <a:ea typeface="Garamond"/>
                  <a:cs typeface="Garamond"/>
                  <a:sym typeface="Garamond"/>
                </a:rPr>
                <a:t>Enfermedad pulmonar obstructivas crónicas (EPOC)</a:t>
              </a:r>
              <a:endParaRPr/>
            </a:p>
          </p:txBody>
        </p:sp>
        <p:sp>
          <p:nvSpPr>
            <p:cNvPr id="311" name="Google Shape;311;p11"/>
            <p:cNvSpPr/>
            <p:nvPr/>
          </p:nvSpPr>
          <p:spPr>
            <a:xfrm>
              <a:off x="1919510" y="1628959"/>
              <a:ext cx="773792" cy="1160688"/>
            </a:xfrm>
            <a:prstGeom prst="rect">
              <a:avLst/>
            </a:prstGeom>
            <a:blipFill rotWithShape="1">
              <a:blip r:embed="rId5">
                <a:alphaModFix/>
              </a:blip>
              <a:stretch>
                <a:fillRect b="0" l="-61997" r="-61997"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Icono De Calaveras Y Huesos Cruzados Sobre Fondo Blanco. Estilo Plano.  Calavera De Muerte E Icono Cruzado Para El DiseÃ±o De Su Si Stock de  ilustración - Ilustración de asustadizo, muestra: 157812610" id="312" name="Google Shape;312;p11"/>
          <p:cNvPicPr preferRelativeResize="0"/>
          <p:nvPr/>
        </p:nvPicPr>
        <p:blipFill rotWithShape="1">
          <a:blip r:embed="rId6">
            <a:alphaModFix/>
          </a:blip>
          <a:srcRect b="0" l="0" r="0" t="0"/>
          <a:stretch/>
        </p:blipFill>
        <p:spPr>
          <a:xfrm>
            <a:off x="603504" y="2909248"/>
            <a:ext cx="2490661" cy="225711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2"/>
          <p:cNvSpPr txBox="1"/>
          <p:nvPr/>
        </p:nvSpPr>
        <p:spPr>
          <a:xfrm>
            <a:off x="2616805" y="2539997"/>
            <a:ext cx="7583424" cy="1569660"/>
          </a:xfrm>
          <a:prstGeom prst="rect">
            <a:avLst/>
          </a:prstGeom>
          <a:solidFill>
            <a:srgbClr val="FFFFCC"/>
          </a:solidFill>
          <a:ln cap="flat" cmpd="sng" w="38100">
            <a:solidFill>
              <a:srgbClr val="A3591C"/>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C" sz="2400" u="none" strike="noStrike">
                <a:solidFill>
                  <a:schemeClr val="dk1"/>
                </a:solidFill>
                <a:latin typeface="Arial"/>
                <a:ea typeface="Arial"/>
                <a:cs typeface="Arial"/>
                <a:sym typeface="Arial"/>
              </a:rPr>
              <a:t>Tiene por objeto promover el derecho a la salud de los habitantes de la República del Ecuador, protegiéndolos de las consecuencias del consumo de productos de tabaco y sus efectos nocivos</a:t>
            </a:r>
            <a:endParaRPr sz="2400">
              <a:solidFill>
                <a:schemeClr val="dk1"/>
              </a:solidFill>
              <a:latin typeface="Garamond"/>
              <a:ea typeface="Garamond"/>
              <a:cs typeface="Garamond"/>
              <a:sym typeface="Garamond"/>
            </a:endParaRPr>
          </a:p>
        </p:txBody>
      </p:sp>
      <p:sp>
        <p:nvSpPr>
          <p:cNvPr id="318" name="Google Shape;318;p12"/>
          <p:cNvSpPr/>
          <p:nvPr/>
        </p:nvSpPr>
        <p:spPr>
          <a:xfrm>
            <a:off x="4556134" y="984822"/>
            <a:ext cx="3280181" cy="11079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C" sz="6600">
                <a:solidFill>
                  <a:srgbClr val="262626"/>
                </a:solidFill>
                <a:latin typeface="Garamond"/>
                <a:ea typeface="Garamond"/>
                <a:cs typeface="Garamond"/>
                <a:sym typeface="Garamond"/>
              </a:rPr>
              <a:t>LORCT</a:t>
            </a:r>
            <a:endParaRPr b="1" sz="6600" cap="none">
              <a:solidFill>
                <a:srgbClr val="262626"/>
              </a:solidFill>
              <a:latin typeface="Garamond"/>
              <a:ea typeface="Garamond"/>
              <a:cs typeface="Garamond"/>
              <a:sym typeface="Garamo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grpSp>
        <p:nvGrpSpPr>
          <p:cNvPr id="323" name="Google Shape;323;p13"/>
          <p:cNvGrpSpPr/>
          <p:nvPr/>
        </p:nvGrpSpPr>
        <p:grpSpPr>
          <a:xfrm>
            <a:off x="1289082" y="875843"/>
            <a:ext cx="9933099" cy="4685040"/>
            <a:chOff x="0" y="61195"/>
            <a:chExt cx="9933099" cy="4685040"/>
          </a:xfrm>
        </p:grpSpPr>
        <p:sp>
          <p:nvSpPr>
            <p:cNvPr id="324" name="Google Shape;324;p13"/>
            <p:cNvSpPr/>
            <p:nvPr/>
          </p:nvSpPr>
          <p:spPr>
            <a:xfrm>
              <a:off x="0" y="459715"/>
              <a:ext cx="9933099" cy="1871100"/>
            </a:xfrm>
            <a:prstGeom prst="rect">
              <a:avLst/>
            </a:prstGeom>
            <a:solidFill>
              <a:schemeClr val="lt1">
                <a:alpha val="90196"/>
              </a:schemeClr>
            </a:solidFill>
            <a:ln cap="flat" cmpd="sng" w="15875">
              <a:solidFill>
                <a:srgbClr val="CC00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3"/>
            <p:cNvSpPr txBox="1"/>
            <p:nvPr/>
          </p:nvSpPr>
          <p:spPr>
            <a:xfrm>
              <a:off x="0" y="459715"/>
              <a:ext cx="9933099" cy="1871100"/>
            </a:xfrm>
            <a:prstGeom prst="rect">
              <a:avLst/>
            </a:prstGeom>
            <a:noFill/>
            <a:ln>
              <a:noFill/>
            </a:ln>
          </p:spPr>
          <p:txBody>
            <a:bodyPr anchorCtr="0" anchor="t" bIns="156450" lIns="770900" spcFirstLastPara="1" rIns="770900" wrap="square" tIns="562350">
              <a:noAutofit/>
            </a:bodyPr>
            <a:lstStyle/>
            <a:p>
              <a:pPr indent="-228600" lvl="1" marL="228600" marR="0" rtl="0" algn="just">
                <a:lnSpc>
                  <a:spcPct val="90000"/>
                </a:lnSpc>
                <a:spcBef>
                  <a:spcPts val="0"/>
                </a:spcBef>
                <a:spcAft>
                  <a:spcPts val="0"/>
                </a:spcAft>
                <a:buClr>
                  <a:schemeClr val="dk1"/>
                </a:buClr>
                <a:buSzPts val="2200"/>
                <a:buFont typeface="Garamond"/>
                <a:buChar char="•"/>
              </a:pPr>
              <a:r>
                <a:rPr b="1" i="0" lang="es-EC" sz="2200" u="none" cap="none" strike="noStrike">
                  <a:solidFill>
                    <a:schemeClr val="dk1"/>
                  </a:solidFill>
                  <a:latin typeface="Garamond"/>
                  <a:ea typeface="Garamond"/>
                  <a:cs typeface="Garamond"/>
                  <a:sym typeface="Garamond"/>
                </a:rPr>
                <a:t>Art. 1 </a:t>
              </a:r>
              <a:r>
                <a:rPr b="0" i="0" lang="es-EC" sz="2200" u="none" cap="none" strike="noStrike">
                  <a:solidFill>
                    <a:schemeClr val="dk1"/>
                  </a:solidFill>
                  <a:latin typeface="Garamond"/>
                  <a:ea typeface="Garamond"/>
                  <a:cs typeface="Garamond"/>
                  <a:sym typeface="Garamond"/>
                </a:rPr>
                <a:t>Se entienden como productos del tabaco a los cigarrillos, cigarros, tabacos, picadura de tabaco, narguile o pipas de agua, extractos de hojas de tabaco y otros productos de uso similar, preparados totalmente o en parte utilizando como materia.</a:t>
              </a:r>
              <a:endParaRPr/>
            </a:p>
          </p:txBody>
        </p:sp>
        <p:sp>
          <p:nvSpPr>
            <p:cNvPr id="326" name="Google Shape;326;p13"/>
            <p:cNvSpPr/>
            <p:nvPr/>
          </p:nvSpPr>
          <p:spPr>
            <a:xfrm>
              <a:off x="496655" y="61195"/>
              <a:ext cx="6953170" cy="797040"/>
            </a:xfrm>
            <a:prstGeom prst="roundRect">
              <a:avLst>
                <a:gd fmla="val 16667" name="adj"/>
              </a:avLst>
            </a:prstGeom>
            <a:solidFill>
              <a:srgbClr val="CCCCFF"/>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3"/>
            <p:cNvSpPr txBox="1"/>
            <p:nvPr/>
          </p:nvSpPr>
          <p:spPr>
            <a:xfrm>
              <a:off x="535563" y="100103"/>
              <a:ext cx="6875354" cy="719224"/>
            </a:xfrm>
            <a:prstGeom prst="rect">
              <a:avLst/>
            </a:prstGeom>
            <a:noFill/>
            <a:ln>
              <a:noFill/>
            </a:ln>
          </p:spPr>
          <p:txBody>
            <a:bodyPr anchorCtr="0" anchor="ctr" bIns="0" lIns="262800" spcFirstLastPara="1" rIns="262800" wrap="square" tIns="0">
              <a:noAutofit/>
            </a:bodyPr>
            <a:lstStyle/>
            <a:p>
              <a:pPr indent="0" lvl="0" marL="0" marR="0" rtl="0" algn="l">
                <a:lnSpc>
                  <a:spcPct val="90000"/>
                </a:lnSpc>
                <a:spcBef>
                  <a:spcPts val="0"/>
                </a:spcBef>
                <a:spcAft>
                  <a:spcPts val="0"/>
                </a:spcAft>
                <a:buClr>
                  <a:schemeClr val="dk1"/>
                </a:buClr>
                <a:buSzPts val="2700"/>
                <a:buFont typeface="Arial"/>
                <a:buNone/>
              </a:pPr>
              <a:r>
                <a:rPr b="1" i="0" lang="es-EC" sz="2700" u="none" strike="noStrike">
                  <a:solidFill>
                    <a:schemeClr val="dk1"/>
                  </a:solidFill>
                  <a:latin typeface="Arial"/>
                  <a:ea typeface="Arial"/>
                  <a:cs typeface="Arial"/>
                  <a:sym typeface="Arial"/>
                </a:rPr>
                <a:t>TITULO I: DEL OBJETO Y AMBITO</a:t>
              </a:r>
              <a:endParaRPr sz="2700">
                <a:solidFill>
                  <a:schemeClr val="dk1"/>
                </a:solidFill>
                <a:latin typeface="Garamond"/>
                <a:ea typeface="Garamond"/>
                <a:cs typeface="Garamond"/>
                <a:sym typeface="Garamond"/>
              </a:endParaRPr>
            </a:p>
          </p:txBody>
        </p:sp>
        <p:sp>
          <p:nvSpPr>
            <p:cNvPr id="328" name="Google Shape;328;p13"/>
            <p:cNvSpPr/>
            <p:nvPr/>
          </p:nvSpPr>
          <p:spPr>
            <a:xfrm>
              <a:off x="0" y="2875135"/>
              <a:ext cx="9933099" cy="1871100"/>
            </a:xfrm>
            <a:prstGeom prst="rect">
              <a:avLst/>
            </a:prstGeom>
            <a:solidFill>
              <a:schemeClr val="lt1">
                <a:alpha val="90196"/>
              </a:schemeClr>
            </a:solidFill>
            <a:ln cap="flat" cmpd="sng" w="15875">
              <a:solidFill>
                <a:srgbClr val="CC00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3"/>
            <p:cNvSpPr txBox="1"/>
            <p:nvPr/>
          </p:nvSpPr>
          <p:spPr>
            <a:xfrm>
              <a:off x="0" y="2875135"/>
              <a:ext cx="9933099" cy="1871100"/>
            </a:xfrm>
            <a:prstGeom prst="rect">
              <a:avLst/>
            </a:prstGeom>
            <a:noFill/>
            <a:ln>
              <a:noFill/>
            </a:ln>
          </p:spPr>
          <p:txBody>
            <a:bodyPr anchorCtr="0" anchor="t" bIns="156450" lIns="770900" spcFirstLastPara="1" rIns="770900" wrap="square" tIns="562350">
              <a:noAutofit/>
            </a:bodyPr>
            <a:lstStyle/>
            <a:p>
              <a:pPr indent="-228600" lvl="1" marL="228600" marR="0" rtl="0" algn="l">
                <a:lnSpc>
                  <a:spcPct val="90000"/>
                </a:lnSpc>
                <a:spcBef>
                  <a:spcPts val="0"/>
                </a:spcBef>
                <a:spcAft>
                  <a:spcPts val="0"/>
                </a:spcAft>
                <a:buClr>
                  <a:schemeClr val="dk1"/>
                </a:buClr>
                <a:buSzPts val="2200"/>
                <a:buFont typeface="Garamond"/>
                <a:buChar char="•"/>
              </a:pPr>
              <a:r>
                <a:rPr b="1" i="0" lang="es-EC" sz="2200" u="none" cap="none" strike="noStrike">
                  <a:solidFill>
                    <a:schemeClr val="dk1"/>
                  </a:solidFill>
                  <a:latin typeface="Garamond"/>
                  <a:ea typeface="Garamond"/>
                  <a:cs typeface="Garamond"/>
                  <a:sym typeface="Garamond"/>
                </a:rPr>
                <a:t>Art. 7</a:t>
              </a:r>
              <a:r>
                <a:rPr b="0" i="0" lang="es-EC" sz="2200" u="none" cap="none" strike="noStrike">
                  <a:solidFill>
                    <a:schemeClr val="dk1"/>
                  </a:solidFill>
                  <a:latin typeface="Garamond"/>
                  <a:ea typeface="Garamond"/>
                  <a:cs typeface="Garamond"/>
                  <a:sym typeface="Garamond"/>
                </a:rPr>
                <a:t> Toda persona natural o jurídica podrá denunciar ante la autoridad competente a las instituciones, que comercialicen los productos de tabaco definidos en este reglamento y que otorguen premios en dinero en efectivo o en especie por el consumo de esos productos.</a:t>
              </a:r>
              <a:endParaRPr/>
            </a:p>
          </p:txBody>
        </p:sp>
        <p:sp>
          <p:nvSpPr>
            <p:cNvPr id="330" name="Google Shape;330;p13"/>
            <p:cNvSpPr/>
            <p:nvPr/>
          </p:nvSpPr>
          <p:spPr>
            <a:xfrm>
              <a:off x="496655" y="2476615"/>
              <a:ext cx="6953170" cy="797040"/>
            </a:xfrm>
            <a:prstGeom prst="roundRect">
              <a:avLst>
                <a:gd fmla="val 16667" name="adj"/>
              </a:avLst>
            </a:prstGeom>
            <a:solidFill>
              <a:srgbClr val="CCCCFF"/>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3"/>
            <p:cNvSpPr txBox="1"/>
            <p:nvPr/>
          </p:nvSpPr>
          <p:spPr>
            <a:xfrm>
              <a:off x="535563" y="2515523"/>
              <a:ext cx="6875354" cy="719224"/>
            </a:xfrm>
            <a:prstGeom prst="rect">
              <a:avLst/>
            </a:prstGeom>
            <a:noFill/>
            <a:ln>
              <a:noFill/>
            </a:ln>
          </p:spPr>
          <p:txBody>
            <a:bodyPr anchorCtr="0" anchor="ctr" bIns="0" lIns="262800" spcFirstLastPara="1" rIns="262800" wrap="square" tIns="0">
              <a:noAutofit/>
            </a:bodyPr>
            <a:lstStyle/>
            <a:p>
              <a:pPr indent="0" lvl="0" marL="0" marR="0" rtl="0" algn="just">
                <a:lnSpc>
                  <a:spcPct val="90000"/>
                </a:lnSpc>
                <a:spcBef>
                  <a:spcPts val="0"/>
                </a:spcBef>
                <a:spcAft>
                  <a:spcPts val="0"/>
                </a:spcAft>
                <a:buClr>
                  <a:schemeClr val="dk1"/>
                </a:buClr>
                <a:buSzPts val="2700"/>
                <a:buFont typeface="Garamond"/>
                <a:buNone/>
              </a:pPr>
              <a:r>
                <a:rPr b="1" lang="es-EC" sz="2700">
                  <a:solidFill>
                    <a:schemeClr val="dk1"/>
                  </a:solidFill>
                  <a:latin typeface="Garamond"/>
                  <a:ea typeface="Garamond"/>
                  <a:cs typeface="Garamond"/>
                  <a:sym typeface="Garamond"/>
                </a:rPr>
                <a:t>TITULO III: DE LA COMERCIALIZACION Y PROMOCION</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grpSp>
        <p:nvGrpSpPr>
          <p:cNvPr id="336" name="Google Shape;336;p14"/>
          <p:cNvGrpSpPr/>
          <p:nvPr/>
        </p:nvGrpSpPr>
        <p:grpSpPr>
          <a:xfrm>
            <a:off x="1223086" y="1884539"/>
            <a:ext cx="9954952" cy="4177962"/>
            <a:chOff x="0" y="476762"/>
            <a:chExt cx="9954952" cy="4177962"/>
          </a:xfrm>
        </p:grpSpPr>
        <p:sp>
          <p:nvSpPr>
            <p:cNvPr id="337" name="Google Shape;337;p14"/>
            <p:cNvSpPr/>
            <p:nvPr/>
          </p:nvSpPr>
          <p:spPr>
            <a:xfrm>
              <a:off x="0" y="476762"/>
              <a:ext cx="9954952" cy="1057314"/>
            </a:xfrm>
            <a:prstGeom prst="roundRect">
              <a:avLst>
                <a:gd fmla="val 16667" name="adj"/>
              </a:avLst>
            </a:prstGeom>
            <a:solidFill>
              <a:srgbClr val="EAF1CC"/>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4"/>
            <p:cNvSpPr txBox="1"/>
            <p:nvPr/>
          </p:nvSpPr>
          <p:spPr>
            <a:xfrm>
              <a:off x="51614" y="528376"/>
              <a:ext cx="9851724" cy="954086"/>
            </a:xfrm>
            <a:prstGeom prst="rect">
              <a:avLst/>
            </a:prstGeom>
            <a:noFill/>
            <a:ln>
              <a:noFill/>
            </a:ln>
          </p:spPr>
          <p:txBody>
            <a:bodyPr anchorCtr="0" anchor="ctr" bIns="76200" lIns="76200" spcFirstLastPara="1" rIns="76200" wrap="square" tIns="76200">
              <a:noAutofit/>
            </a:bodyPr>
            <a:lstStyle/>
            <a:p>
              <a:pPr indent="0" lvl="0" marL="0" marR="0" rtl="0" algn="just">
                <a:lnSpc>
                  <a:spcPct val="90000"/>
                </a:lnSpc>
                <a:spcBef>
                  <a:spcPts val="0"/>
                </a:spcBef>
                <a:spcAft>
                  <a:spcPts val="0"/>
                </a:spcAft>
                <a:buClr>
                  <a:srgbClr val="000000"/>
                </a:buClr>
                <a:buSzPts val="2000"/>
                <a:buFont typeface="Garamond"/>
                <a:buNone/>
              </a:pPr>
              <a:r>
                <a:rPr b="1" lang="es-EC" sz="2000">
                  <a:solidFill>
                    <a:srgbClr val="000000"/>
                  </a:solidFill>
                  <a:latin typeface="Garamond"/>
                  <a:ea typeface="Garamond"/>
                  <a:cs typeface="Garamond"/>
                  <a:sym typeface="Garamond"/>
                </a:rPr>
                <a:t>Art. 12 </a:t>
              </a:r>
              <a:r>
                <a:rPr lang="es-EC" sz="2000">
                  <a:solidFill>
                    <a:srgbClr val="000000"/>
                  </a:solidFill>
                  <a:latin typeface="Garamond"/>
                  <a:ea typeface="Garamond"/>
                  <a:cs typeface="Garamond"/>
                  <a:sym typeface="Garamond"/>
                </a:rPr>
                <a:t>La máxima autoridad, propietario, quien obtenga el título de </a:t>
              </a:r>
              <a:r>
                <a:rPr b="1" lang="es-EC" sz="2000">
                  <a:solidFill>
                    <a:srgbClr val="000000"/>
                  </a:solidFill>
                  <a:latin typeface="Garamond"/>
                  <a:ea typeface="Garamond"/>
                  <a:cs typeface="Garamond"/>
                  <a:sym typeface="Garamond"/>
                </a:rPr>
                <a:t>100% libres de humo de tabaco</a:t>
              </a:r>
              <a:r>
                <a:rPr lang="es-EC" sz="2000">
                  <a:solidFill>
                    <a:srgbClr val="000000"/>
                  </a:solidFill>
                  <a:latin typeface="Garamond"/>
                  <a:ea typeface="Garamond"/>
                  <a:cs typeface="Garamond"/>
                  <a:sym typeface="Garamond"/>
                </a:rPr>
                <a:t>, deberá adoptar medidas para la implementación de la ley, de la siguiente manera:</a:t>
              </a:r>
              <a:endParaRPr/>
            </a:p>
          </p:txBody>
        </p:sp>
        <p:sp>
          <p:nvSpPr>
            <p:cNvPr id="339" name="Google Shape;339;p14"/>
            <p:cNvSpPr/>
            <p:nvPr/>
          </p:nvSpPr>
          <p:spPr>
            <a:xfrm>
              <a:off x="0" y="1534076"/>
              <a:ext cx="9954952" cy="3120648"/>
            </a:xfrm>
            <a:prstGeom prst="rect">
              <a:avLst/>
            </a:prstGeom>
            <a:noFill/>
            <a:ln cap="flat" cmpd="sng" w="9525">
              <a:solidFill>
                <a:srgbClr val="0020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4"/>
            <p:cNvSpPr txBox="1"/>
            <p:nvPr/>
          </p:nvSpPr>
          <p:spPr>
            <a:xfrm>
              <a:off x="0" y="1534076"/>
              <a:ext cx="9954952" cy="3120648"/>
            </a:xfrm>
            <a:prstGeom prst="rect">
              <a:avLst/>
            </a:prstGeom>
            <a:noFill/>
            <a:ln>
              <a:noFill/>
            </a:ln>
          </p:spPr>
          <p:txBody>
            <a:bodyPr anchorCtr="0" anchor="t" bIns="25400" lIns="316050" spcFirstLastPara="1" rIns="142225" wrap="square" tIns="25400">
              <a:noAutofit/>
            </a:bodyPr>
            <a:lstStyle/>
            <a:p>
              <a:pPr indent="-228600" lvl="1" marL="228600" marR="0" rtl="0" algn="just">
                <a:lnSpc>
                  <a:spcPct val="90000"/>
                </a:lnSpc>
                <a:spcBef>
                  <a:spcPts val="0"/>
                </a:spcBef>
                <a:spcAft>
                  <a:spcPts val="0"/>
                </a:spcAft>
                <a:buClr>
                  <a:schemeClr val="dk1"/>
                </a:buClr>
                <a:buSzPts val="2000"/>
                <a:buFont typeface="Garamond"/>
                <a:buChar char="•"/>
              </a:pPr>
              <a:r>
                <a:rPr b="0" i="0" lang="es-EC" sz="2000" u="none" cap="none" strike="noStrike">
                  <a:solidFill>
                    <a:schemeClr val="dk1"/>
                  </a:solidFill>
                  <a:latin typeface="Garamond"/>
                  <a:ea typeface="Garamond"/>
                  <a:cs typeface="Garamond"/>
                  <a:sym typeface="Garamond"/>
                </a:rPr>
                <a:t>a) Comunicar regularmente por medios escritos y orales, que ese es un </a:t>
              </a:r>
              <a:r>
                <a:rPr b="1" i="0" lang="es-EC" sz="2000" u="none" cap="none" strike="noStrike">
                  <a:solidFill>
                    <a:schemeClr val="dk1"/>
                  </a:solidFill>
                  <a:latin typeface="Garamond"/>
                  <a:ea typeface="Garamond"/>
                  <a:cs typeface="Garamond"/>
                  <a:sym typeface="Garamond"/>
                </a:rPr>
                <a:t>espacio libre de humo de tabaco;</a:t>
              </a:r>
              <a:endParaRPr/>
            </a:p>
            <a:p>
              <a:pPr indent="-228600" lvl="1" marL="228600" marR="0" rtl="0" algn="just">
                <a:lnSpc>
                  <a:spcPct val="90000"/>
                </a:lnSpc>
                <a:spcBef>
                  <a:spcPts val="400"/>
                </a:spcBef>
                <a:spcAft>
                  <a:spcPts val="0"/>
                </a:spcAft>
                <a:buClr>
                  <a:schemeClr val="dk1"/>
                </a:buClr>
                <a:buSzPts val="2000"/>
                <a:buFont typeface="Garamond"/>
                <a:buChar char="•"/>
              </a:pPr>
              <a:r>
                <a:rPr b="0" i="0" lang="es-EC" sz="2000" u="none" cap="none" strike="noStrike">
                  <a:solidFill>
                    <a:schemeClr val="dk1"/>
                  </a:solidFill>
                  <a:latin typeface="Garamond"/>
                  <a:ea typeface="Garamond"/>
                  <a:cs typeface="Garamond"/>
                  <a:sym typeface="Garamond"/>
                </a:rPr>
                <a:t>b)En escenarios para espectáculos deportivos, artísticos y culturales, así como bares, discotecas y similares, anunciar según el caso, al ingreso de los usuarios, durante el desarrollo de los mismos, en forma escrita y/u oral en los sistemas de amplificación, que es un establecimiento 100% libre de humo de tabaco y que se prohíbe fumar o mantener encendidos productos de tabaco, incluso en los baños, cuyo incumplimiento acarrea las sanciones correspondientes;</a:t>
              </a:r>
              <a:endParaRPr/>
            </a:p>
            <a:p>
              <a:pPr indent="-228600" lvl="1" marL="228600" marR="0" rtl="0" algn="just">
                <a:lnSpc>
                  <a:spcPct val="90000"/>
                </a:lnSpc>
                <a:spcBef>
                  <a:spcPts val="400"/>
                </a:spcBef>
                <a:spcAft>
                  <a:spcPts val="0"/>
                </a:spcAft>
                <a:buClr>
                  <a:schemeClr val="dk1"/>
                </a:buClr>
                <a:buSzPts val="2000"/>
                <a:buFont typeface="Garamond"/>
                <a:buChar char="•"/>
              </a:pPr>
              <a:r>
                <a:rPr b="0" i="0" lang="es-EC" sz="2000" u="none" cap="none" strike="noStrike">
                  <a:solidFill>
                    <a:schemeClr val="dk1"/>
                  </a:solidFill>
                  <a:latin typeface="Garamond"/>
                  <a:ea typeface="Garamond"/>
                  <a:cs typeface="Garamond"/>
                  <a:sym typeface="Garamond"/>
                </a:rPr>
                <a:t>c) Exhibir en lugares y tamaños claramente visibles, tanto a la entrada del establecimiento como en los lugares de mayor concurrencia de público y en las baterías sanitarias, anuncios escritos en idioma español y en otros idiomas si fuera necesario, lo siguiente:</a:t>
              </a:r>
              <a:endParaRPr/>
            </a:p>
          </p:txBody>
        </p:sp>
      </p:grpSp>
      <p:sp>
        <p:nvSpPr>
          <p:cNvPr id="341" name="Google Shape;341;p14"/>
          <p:cNvSpPr txBox="1"/>
          <p:nvPr/>
        </p:nvSpPr>
        <p:spPr>
          <a:xfrm>
            <a:off x="2221305" y="780664"/>
            <a:ext cx="7466238"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C" sz="2800" u="none" strike="noStrike">
                <a:solidFill>
                  <a:schemeClr val="dk1"/>
                </a:solidFill>
                <a:latin typeface="Arial"/>
                <a:ea typeface="Arial"/>
                <a:cs typeface="Arial"/>
                <a:sym typeface="Arial"/>
              </a:rPr>
              <a:t>TITULO IV</a:t>
            </a:r>
            <a:endParaRPr/>
          </a:p>
          <a:p>
            <a:pPr indent="0" lvl="0" marL="0" marR="0" rtl="0" algn="ctr">
              <a:spcBef>
                <a:spcPts val="0"/>
              </a:spcBef>
              <a:spcAft>
                <a:spcPts val="0"/>
              </a:spcAft>
              <a:buNone/>
            </a:pPr>
            <a:r>
              <a:rPr b="1" i="0" lang="es-EC" sz="2800" u="none" strike="noStrike">
                <a:solidFill>
                  <a:schemeClr val="dk1"/>
                </a:solidFill>
                <a:latin typeface="Arial"/>
                <a:ea typeface="Arial"/>
                <a:cs typeface="Arial"/>
                <a:sym typeface="Arial"/>
              </a:rPr>
              <a:t>DE LAS RESTRICCIONES AL CONSUMO</a:t>
            </a:r>
            <a:endParaRPr b="1" sz="2800">
              <a:solidFill>
                <a:schemeClr val="dk1"/>
              </a:solidFill>
              <a:latin typeface="Garamond"/>
              <a:ea typeface="Garamond"/>
              <a:cs typeface="Garamond"/>
              <a:sym typeface="Garamo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5"/>
          <p:cNvSpPr txBox="1"/>
          <p:nvPr/>
        </p:nvSpPr>
        <p:spPr>
          <a:xfrm>
            <a:off x="1557066" y="865508"/>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C" sz="1800">
                <a:solidFill>
                  <a:schemeClr val="dk1"/>
                </a:solidFill>
                <a:latin typeface="Garamond"/>
                <a:ea typeface="Garamond"/>
                <a:cs typeface="Garamond"/>
                <a:sym typeface="Garamond"/>
              </a:rPr>
              <a:t>En mayúscula y letras más grandes:</a:t>
            </a:r>
            <a:endParaRPr/>
          </a:p>
        </p:txBody>
      </p:sp>
      <p:sp>
        <p:nvSpPr>
          <p:cNvPr id="347" name="Google Shape;347;p15"/>
          <p:cNvSpPr/>
          <p:nvPr/>
        </p:nvSpPr>
        <p:spPr>
          <a:xfrm>
            <a:off x="1192133" y="1415930"/>
            <a:ext cx="10048087" cy="972957"/>
          </a:xfrm>
          <a:prstGeom prst="roundRect">
            <a:avLst>
              <a:gd fmla="val 16667" name="adj"/>
            </a:avLst>
          </a:prstGeom>
          <a:solidFill>
            <a:srgbClr val="CCCC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C" sz="2400">
                <a:solidFill>
                  <a:schemeClr val="dk1"/>
                </a:solidFill>
                <a:latin typeface="Garamond"/>
                <a:ea typeface="Garamond"/>
                <a:cs typeface="Garamond"/>
                <a:sym typeface="Garamond"/>
              </a:rPr>
              <a:t>"EDIFICIO"/"LOCAL"/"ESTABLECIMIENTO"/o el nombre específico del local/"</a:t>
            </a:r>
            <a:r>
              <a:rPr b="1" lang="es-EC" sz="2400">
                <a:solidFill>
                  <a:schemeClr val="dk1"/>
                </a:solidFill>
                <a:latin typeface="Garamond"/>
                <a:ea typeface="Garamond"/>
                <a:cs typeface="Garamond"/>
                <a:sym typeface="Garamond"/>
              </a:rPr>
              <a:t>100% LIBRE DE HUMO DE TABACO"</a:t>
            </a:r>
            <a:endParaRPr/>
          </a:p>
        </p:txBody>
      </p:sp>
      <p:sp>
        <p:nvSpPr>
          <p:cNvPr id="348" name="Google Shape;348;p15"/>
          <p:cNvSpPr/>
          <p:nvPr/>
        </p:nvSpPr>
        <p:spPr>
          <a:xfrm>
            <a:off x="1318830" y="3214695"/>
            <a:ext cx="10048087" cy="972957"/>
          </a:xfrm>
          <a:prstGeom prst="roundRect">
            <a:avLst>
              <a:gd fmla="val 16667" name="adj"/>
            </a:avLst>
          </a:prstGeom>
          <a:gradFill>
            <a:gsLst>
              <a:gs pos="0">
                <a:srgbClr val="F1D5CA"/>
              </a:gs>
              <a:gs pos="100000">
                <a:srgbClr val="E09B79"/>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C" sz="2200">
                <a:solidFill>
                  <a:schemeClr val="dk1"/>
                </a:solidFill>
                <a:latin typeface="Garamond"/>
                <a:ea typeface="Garamond"/>
                <a:cs typeface="Garamond"/>
                <a:sym typeface="Garamond"/>
              </a:rPr>
              <a:t>"</a:t>
            </a:r>
            <a:r>
              <a:rPr lang="es-EC" sz="2100">
                <a:solidFill>
                  <a:schemeClr val="dk1"/>
                </a:solidFill>
                <a:latin typeface="Garamond"/>
                <a:ea typeface="Garamond"/>
                <a:cs typeface="Garamond"/>
                <a:sym typeface="Garamond"/>
              </a:rPr>
              <a:t>Ley Orgánica para la Regulación y Control del Tabaco", R.O. No. 497 22 de julio del 2011.</a:t>
            </a:r>
            <a:endParaRPr/>
          </a:p>
          <a:p>
            <a:pPr indent="0" lvl="0" marL="0" marR="0" rtl="0" algn="ctr">
              <a:spcBef>
                <a:spcPts val="0"/>
              </a:spcBef>
              <a:spcAft>
                <a:spcPts val="0"/>
              </a:spcAft>
              <a:buNone/>
            </a:pPr>
            <a:r>
              <a:rPr lang="es-EC" sz="2100">
                <a:solidFill>
                  <a:schemeClr val="dk1"/>
                </a:solidFill>
                <a:latin typeface="Garamond"/>
                <a:ea typeface="Garamond"/>
                <a:cs typeface="Garamond"/>
                <a:sym typeface="Garamond"/>
              </a:rPr>
              <a:t>Denuncias por la violación de la ley: a (los teléfonos y direcciones de correo electrónico que defina el Ministerio de Salud Pública y sus instancias desconcentradas).".</a:t>
            </a:r>
            <a:endParaRPr/>
          </a:p>
        </p:txBody>
      </p:sp>
      <p:sp>
        <p:nvSpPr>
          <p:cNvPr id="349" name="Google Shape;349;p15"/>
          <p:cNvSpPr txBox="1"/>
          <p:nvPr/>
        </p:nvSpPr>
        <p:spPr>
          <a:xfrm>
            <a:off x="1554346" y="2751068"/>
            <a:ext cx="60987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C" sz="1800">
                <a:solidFill>
                  <a:schemeClr val="dk1"/>
                </a:solidFill>
                <a:latin typeface="Times New Roman"/>
                <a:ea typeface="Times New Roman"/>
                <a:cs typeface="Times New Roman"/>
                <a:sym typeface="Times New Roman"/>
              </a:rPr>
              <a:t>Y en letras más pequeñas y en minúsculas:</a:t>
            </a:r>
            <a:endParaRPr/>
          </a:p>
        </p:txBody>
      </p:sp>
      <p:pic>
        <p:nvPicPr>
          <p:cNvPr id="350" name="Google Shape;350;p15"/>
          <p:cNvPicPr preferRelativeResize="0"/>
          <p:nvPr/>
        </p:nvPicPr>
        <p:blipFill rotWithShape="1">
          <a:blip r:embed="rId3">
            <a:alphaModFix/>
          </a:blip>
          <a:srcRect b="0" l="0" r="0" t="0"/>
          <a:stretch/>
        </p:blipFill>
        <p:spPr>
          <a:xfrm>
            <a:off x="3865718" y="178917"/>
            <a:ext cx="4460563" cy="607155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9"/>
                                        </p:tgtEl>
                                        <p:attrNameLst>
                                          <p:attrName>style.visibility</p:attrName>
                                        </p:attrNameLst>
                                      </p:cBhvr>
                                      <p:to>
                                        <p:strVal val="visible"/>
                                      </p:to>
                                    </p:set>
                                    <p:anim calcmode="lin" valueType="num">
                                      <p:cBhvr additive="base">
                                        <p:cTn dur="500"/>
                                        <p:tgtEl>
                                          <p:spTgt spid="34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grpSp>
        <p:nvGrpSpPr>
          <p:cNvPr id="355" name="Google Shape;355;p16"/>
          <p:cNvGrpSpPr/>
          <p:nvPr/>
        </p:nvGrpSpPr>
        <p:grpSpPr>
          <a:xfrm>
            <a:off x="2185453" y="279942"/>
            <a:ext cx="8611765" cy="5921736"/>
            <a:chOff x="2023407" y="2149"/>
            <a:chExt cx="8611765" cy="5921736"/>
          </a:xfrm>
        </p:grpSpPr>
        <p:sp>
          <p:nvSpPr>
            <p:cNvPr id="356" name="Google Shape;356;p16"/>
            <p:cNvSpPr/>
            <p:nvPr/>
          </p:nvSpPr>
          <p:spPr>
            <a:xfrm>
              <a:off x="4258980" y="2149"/>
              <a:ext cx="6376192" cy="1778299"/>
            </a:xfrm>
            <a:prstGeom prst="rect">
              <a:avLst/>
            </a:prstGeom>
            <a:solidFill>
              <a:srgbClr val="E5FFFF"/>
            </a:solidFill>
            <a:ln cap="flat" cmpd="sng" w="15875">
              <a:solidFill>
                <a:srgbClr val="7030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6"/>
            <p:cNvSpPr txBox="1"/>
            <p:nvPr/>
          </p:nvSpPr>
          <p:spPr>
            <a:xfrm>
              <a:off x="4258980" y="2149"/>
              <a:ext cx="6376192" cy="1778299"/>
            </a:xfrm>
            <a:prstGeom prst="rect">
              <a:avLst/>
            </a:prstGeom>
            <a:noFill/>
            <a:ln>
              <a:noFill/>
            </a:ln>
          </p:spPr>
          <p:txBody>
            <a:bodyPr anchorCtr="0" anchor="ctr" bIns="76200" lIns="76200" spcFirstLastPara="1" rIns="76200" wrap="square" tIns="76200">
              <a:noAutofit/>
            </a:bodyPr>
            <a:lstStyle/>
            <a:p>
              <a:pPr indent="0" lvl="0" marL="0" marR="0" rtl="0" algn="just">
                <a:lnSpc>
                  <a:spcPct val="90000"/>
                </a:lnSpc>
                <a:spcBef>
                  <a:spcPts val="0"/>
                </a:spcBef>
                <a:spcAft>
                  <a:spcPts val="0"/>
                </a:spcAft>
                <a:buClr>
                  <a:schemeClr val="lt1"/>
                </a:buClr>
                <a:buSzPts val="2000"/>
                <a:buFont typeface="Garamond"/>
                <a:buNone/>
              </a:pPr>
              <a:r>
                <a:rPr lang="es-EC" sz="2000">
                  <a:solidFill>
                    <a:schemeClr val="lt1"/>
                  </a:solidFill>
                  <a:latin typeface="Garamond"/>
                  <a:ea typeface="Garamond"/>
                  <a:cs typeface="Garamond"/>
                  <a:sym typeface="Garamond"/>
                </a:rPr>
                <a:t>d) Se retirarán del interior de los espacios definidos en la ley como 100% libres de humo de tabaco: ceniceros y objetos similares, y se respetará las prohibiciones de publicidad y promoción definidas en la ley. </a:t>
              </a:r>
              <a:endParaRPr/>
            </a:p>
          </p:txBody>
        </p:sp>
        <p:sp>
          <p:nvSpPr>
            <p:cNvPr id="358" name="Google Shape;358;p16"/>
            <p:cNvSpPr/>
            <p:nvPr/>
          </p:nvSpPr>
          <p:spPr>
            <a:xfrm>
              <a:off x="2039498" y="2149"/>
              <a:ext cx="1760516" cy="1778299"/>
            </a:xfrm>
            <a:prstGeom prst="rect">
              <a:avLst/>
            </a:prstGeom>
            <a:blipFill rotWithShape="1">
              <a:blip r:embed="rId3">
                <a:alphaModFix/>
              </a:blip>
              <a:stretch>
                <a:fillRect b="0" l="-4999" r="-4999" t="0"/>
              </a:stretch>
            </a:blipFill>
            <a:ln cap="flat" cmpd="sng" w="15875">
              <a:solidFill>
                <a:srgbClr val="3A65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6"/>
            <p:cNvSpPr/>
            <p:nvPr/>
          </p:nvSpPr>
          <p:spPr>
            <a:xfrm>
              <a:off x="2056513" y="2073867"/>
              <a:ext cx="6170204" cy="1778299"/>
            </a:xfrm>
            <a:prstGeom prst="rect">
              <a:avLst/>
            </a:prstGeom>
            <a:solidFill>
              <a:srgbClr val="E5E5FF"/>
            </a:solidFill>
            <a:ln cap="flat" cmpd="sng" w="15875">
              <a:solidFill>
                <a:srgbClr val="7030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6"/>
            <p:cNvSpPr txBox="1"/>
            <p:nvPr/>
          </p:nvSpPr>
          <p:spPr>
            <a:xfrm>
              <a:off x="2056513" y="2073867"/>
              <a:ext cx="6170204" cy="1778299"/>
            </a:xfrm>
            <a:prstGeom prst="rect">
              <a:avLst/>
            </a:prstGeom>
            <a:noFill/>
            <a:ln>
              <a:noFill/>
            </a:ln>
          </p:spPr>
          <p:txBody>
            <a:bodyPr anchorCtr="0" anchor="ctr" bIns="76200" lIns="76200" spcFirstLastPara="1" rIns="76200" wrap="square" tIns="76200">
              <a:noAutofit/>
            </a:bodyPr>
            <a:lstStyle/>
            <a:p>
              <a:pPr indent="0" lvl="0" marL="0" marR="0" rtl="0" algn="just">
                <a:lnSpc>
                  <a:spcPct val="90000"/>
                </a:lnSpc>
                <a:spcBef>
                  <a:spcPts val="0"/>
                </a:spcBef>
                <a:spcAft>
                  <a:spcPts val="0"/>
                </a:spcAft>
                <a:buClr>
                  <a:schemeClr val="lt1"/>
                </a:buClr>
                <a:buSzPts val="2000"/>
                <a:buFont typeface="Garamond"/>
                <a:buNone/>
              </a:pPr>
              <a:r>
                <a:rPr lang="es-EC" sz="2000">
                  <a:solidFill>
                    <a:schemeClr val="lt1"/>
                  </a:solidFill>
                  <a:latin typeface="Garamond"/>
                  <a:ea typeface="Garamond"/>
                  <a:cs typeface="Garamond"/>
                  <a:sym typeface="Garamond"/>
                </a:rPr>
                <a:t>e) Para el cumplimiento y mantenimiento de la disposición legal de no establecer zonas destinadas a fumadores, se advertirá sobre los lugares donde es permitido fumar según lo establecido en la ley, o en espacios abiertos, en tanto no sean lugares de acceso al público en general y de los trabajadores.</a:t>
              </a:r>
              <a:endParaRPr/>
            </a:p>
          </p:txBody>
        </p:sp>
        <p:sp>
          <p:nvSpPr>
            <p:cNvPr id="361" name="Google Shape;361;p16"/>
            <p:cNvSpPr/>
            <p:nvPr/>
          </p:nvSpPr>
          <p:spPr>
            <a:xfrm>
              <a:off x="8776716" y="2108580"/>
              <a:ext cx="1760516" cy="1778299"/>
            </a:xfrm>
            <a:prstGeom prst="rect">
              <a:avLst/>
            </a:prstGeom>
            <a:solidFill>
              <a:schemeClr val="lt1"/>
            </a:solidFill>
            <a:ln cap="flat" cmpd="sng" w="15875">
              <a:solidFill>
                <a:srgbClr val="3A65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6"/>
            <p:cNvSpPr/>
            <p:nvPr/>
          </p:nvSpPr>
          <p:spPr>
            <a:xfrm>
              <a:off x="4164429" y="4136926"/>
              <a:ext cx="6440556" cy="1778299"/>
            </a:xfrm>
            <a:prstGeom prst="rect">
              <a:avLst/>
            </a:prstGeom>
            <a:solidFill>
              <a:srgbClr val="F0D4D1"/>
            </a:solidFill>
            <a:ln cap="flat" cmpd="sng" w="15875">
              <a:solidFill>
                <a:srgbClr val="7030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6"/>
            <p:cNvSpPr txBox="1"/>
            <p:nvPr/>
          </p:nvSpPr>
          <p:spPr>
            <a:xfrm>
              <a:off x="4164429" y="4136926"/>
              <a:ext cx="6440556" cy="1778299"/>
            </a:xfrm>
            <a:prstGeom prst="rect">
              <a:avLst/>
            </a:prstGeom>
            <a:noFill/>
            <a:ln>
              <a:noFill/>
            </a:ln>
          </p:spPr>
          <p:txBody>
            <a:bodyPr anchorCtr="0" anchor="ctr" bIns="76200" lIns="76200" spcFirstLastPara="1" rIns="76200" wrap="square" tIns="76200">
              <a:noAutofit/>
            </a:bodyPr>
            <a:lstStyle/>
            <a:p>
              <a:pPr indent="0" lvl="0" marL="0" marR="0" rtl="0" algn="just">
                <a:lnSpc>
                  <a:spcPct val="90000"/>
                </a:lnSpc>
                <a:spcBef>
                  <a:spcPts val="0"/>
                </a:spcBef>
                <a:spcAft>
                  <a:spcPts val="0"/>
                </a:spcAft>
                <a:buClr>
                  <a:schemeClr val="lt1"/>
                </a:buClr>
                <a:buSzPts val="2000"/>
                <a:buFont typeface="Garamond"/>
                <a:buNone/>
              </a:pPr>
              <a:r>
                <a:rPr lang="es-EC" sz="2000">
                  <a:solidFill>
                    <a:schemeClr val="lt1"/>
                  </a:solidFill>
                  <a:latin typeface="Garamond"/>
                  <a:ea typeface="Garamond"/>
                  <a:cs typeface="Garamond"/>
                  <a:sym typeface="Garamond"/>
                </a:rPr>
                <a:t>Los GAD, en coordinación con la autoridad sanitaria, exigirán como uno de los requisitos para la autorización de espectáculos públicos en locales definidos como 100% libres de humo de tabaco en la ley, la difusión en la publicidad previa al evento, en los boletos y durante su realización, de mensajes que informen que se trata de un espectáculo 100% libre de humo de tabaco</a:t>
              </a:r>
              <a:endParaRPr/>
            </a:p>
          </p:txBody>
        </p:sp>
        <p:sp>
          <p:nvSpPr>
            <p:cNvPr id="364" name="Google Shape;364;p16"/>
            <p:cNvSpPr/>
            <p:nvPr/>
          </p:nvSpPr>
          <p:spPr>
            <a:xfrm>
              <a:off x="2023407" y="4145586"/>
              <a:ext cx="1760516" cy="1778299"/>
            </a:xfrm>
            <a:prstGeom prst="rect">
              <a:avLst/>
            </a:prstGeom>
            <a:blipFill rotWithShape="1">
              <a:blip r:embed="rId4">
                <a:alphaModFix/>
              </a:blip>
              <a:stretch>
                <a:fillRect b="0" l="-46997" r="-46997" t="0"/>
              </a:stretch>
            </a:blipFill>
            <a:ln cap="flat" cmpd="sng" w="15875">
              <a:solidFill>
                <a:srgbClr val="3A65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grpSp>
        <p:nvGrpSpPr>
          <p:cNvPr id="369" name="Google Shape;369;p17"/>
          <p:cNvGrpSpPr/>
          <p:nvPr/>
        </p:nvGrpSpPr>
        <p:grpSpPr>
          <a:xfrm>
            <a:off x="1682665" y="0"/>
            <a:ext cx="8113852" cy="6302828"/>
            <a:chOff x="980536" y="0"/>
            <a:chExt cx="8113852" cy="6302828"/>
          </a:xfrm>
        </p:grpSpPr>
        <p:sp>
          <p:nvSpPr>
            <p:cNvPr id="370" name="Google Shape;370;p17"/>
            <p:cNvSpPr/>
            <p:nvPr/>
          </p:nvSpPr>
          <p:spPr>
            <a:xfrm>
              <a:off x="3013450" y="0"/>
              <a:ext cx="4049473" cy="3151414"/>
            </a:xfrm>
            <a:prstGeom prst="triangle">
              <a:avLst>
                <a:gd fmla="val 50000" name="adj"/>
              </a:avLst>
            </a:prstGeom>
            <a:solidFill>
              <a:srgbClr val="FFEECD"/>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
            <p:cNvSpPr txBox="1"/>
            <p:nvPr/>
          </p:nvSpPr>
          <p:spPr>
            <a:xfrm>
              <a:off x="4025818" y="1575707"/>
              <a:ext cx="2024737" cy="1575707"/>
            </a:xfrm>
            <a:prstGeom prst="rect">
              <a:avLst/>
            </a:prstGeom>
            <a:noFill/>
            <a:ln>
              <a:noFill/>
            </a:ln>
          </p:spPr>
          <p:txBody>
            <a:bodyPr anchorCtr="0" anchor="ctr" bIns="60950" lIns="60950" spcFirstLastPara="1" rIns="60950" wrap="square" tIns="60950">
              <a:noAutofit/>
            </a:bodyPr>
            <a:lstStyle/>
            <a:p>
              <a:pPr indent="0" lvl="0" marL="0" marR="0" rtl="0" algn="just">
                <a:lnSpc>
                  <a:spcPct val="90000"/>
                </a:lnSpc>
                <a:spcBef>
                  <a:spcPts val="0"/>
                </a:spcBef>
                <a:spcAft>
                  <a:spcPts val="0"/>
                </a:spcAft>
                <a:buClr>
                  <a:srgbClr val="000000"/>
                </a:buClr>
                <a:buSzPts val="1600"/>
                <a:buFont typeface="Garamond"/>
                <a:buNone/>
              </a:pPr>
              <a:r>
                <a:rPr lang="es-EC" sz="1600">
                  <a:solidFill>
                    <a:srgbClr val="000000"/>
                  </a:solidFill>
                  <a:latin typeface="Garamond"/>
                  <a:ea typeface="Garamond"/>
                  <a:cs typeface="Garamond"/>
                  <a:sym typeface="Garamond"/>
                </a:rPr>
                <a:t>Diferentes medios de comunicación, informarán de los avances e inconvenientes en la implementación de la ley y el reglamento.</a:t>
              </a:r>
              <a:endParaRPr/>
            </a:p>
          </p:txBody>
        </p:sp>
        <p:sp>
          <p:nvSpPr>
            <p:cNvPr id="372" name="Google Shape;372;p17"/>
            <p:cNvSpPr/>
            <p:nvPr/>
          </p:nvSpPr>
          <p:spPr>
            <a:xfrm>
              <a:off x="980536" y="3151414"/>
              <a:ext cx="4049473" cy="3151414"/>
            </a:xfrm>
            <a:prstGeom prst="triangle">
              <a:avLst>
                <a:gd fmla="val 50000" name="adj"/>
              </a:avLst>
            </a:prstGeom>
            <a:solidFill>
              <a:srgbClr val="FFEECD"/>
            </a:solidFill>
            <a:ln cap="flat" cmpd="sng" w="15875">
              <a:solidFill>
                <a:srgbClr val="1010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7"/>
            <p:cNvSpPr txBox="1"/>
            <p:nvPr/>
          </p:nvSpPr>
          <p:spPr>
            <a:xfrm>
              <a:off x="1992904" y="4727121"/>
              <a:ext cx="2024737" cy="1575707"/>
            </a:xfrm>
            <a:prstGeom prst="rect">
              <a:avLst/>
            </a:prstGeom>
            <a:noFill/>
            <a:ln>
              <a:noFill/>
            </a:ln>
          </p:spPr>
          <p:txBody>
            <a:bodyPr anchorCtr="0" anchor="ctr" bIns="60950" lIns="60950" spcFirstLastPara="1" rIns="60950" wrap="square" tIns="60950">
              <a:noAutofit/>
            </a:bodyPr>
            <a:lstStyle/>
            <a:p>
              <a:pPr indent="0" lvl="0" marL="0" marR="0" rtl="0" algn="just">
                <a:lnSpc>
                  <a:spcPct val="90000"/>
                </a:lnSpc>
                <a:spcBef>
                  <a:spcPts val="0"/>
                </a:spcBef>
                <a:spcAft>
                  <a:spcPts val="0"/>
                </a:spcAft>
                <a:buClr>
                  <a:srgbClr val="000000"/>
                </a:buClr>
                <a:buSzPts val="1600"/>
                <a:buFont typeface="Garamond"/>
                <a:buNone/>
              </a:pPr>
              <a:r>
                <a:rPr lang="es-EC" sz="1600">
                  <a:solidFill>
                    <a:srgbClr val="000000"/>
                  </a:solidFill>
                  <a:latin typeface="Garamond"/>
                  <a:ea typeface="Garamond"/>
                  <a:cs typeface="Garamond"/>
                  <a:sym typeface="Garamond"/>
                </a:rPr>
                <a:t>El MSP y su Programa Nacional de Control del Tabaco, con apoyo de Secretaría Nacional de Comunicación y del CILA, a través de su página web y; </a:t>
              </a:r>
              <a:endParaRPr/>
            </a:p>
          </p:txBody>
        </p:sp>
        <p:sp>
          <p:nvSpPr>
            <p:cNvPr id="374" name="Google Shape;374;p17"/>
            <p:cNvSpPr/>
            <p:nvPr/>
          </p:nvSpPr>
          <p:spPr>
            <a:xfrm rot="10800000">
              <a:off x="3013450" y="3135909"/>
              <a:ext cx="4049473" cy="3151414"/>
            </a:xfrm>
            <a:prstGeom prst="triangle">
              <a:avLst>
                <a:gd fmla="val 50000" name="adj"/>
              </a:avLst>
            </a:prstGeom>
            <a:solidFill>
              <a:srgbClr val="66330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7"/>
            <p:cNvSpPr txBox="1"/>
            <p:nvPr/>
          </p:nvSpPr>
          <p:spPr>
            <a:xfrm>
              <a:off x="4025818" y="3135909"/>
              <a:ext cx="2024737" cy="1575707"/>
            </a:xfrm>
            <a:prstGeom prst="rect">
              <a:avLst/>
            </a:prstGeom>
            <a:noFill/>
            <a:ln>
              <a:noFill/>
            </a:ln>
          </p:spPr>
          <p:txBody>
            <a:bodyPr anchorCtr="0" anchor="ctr" bIns="64750" lIns="64750" spcFirstLastPara="1" rIns="64750" wrap="square" tIns="64750">
              <a:noAutofit/>
            </a:bodyPr>
            <a:lstStyle/>
            <a:p>
              <a:pPr indent="0" lvl="0" marL="0" marR="0" rtl="0" algn="ctr">
                <a:lnSpc>
                  <a:spcPct val="90000"/>
                </a:lnSpc>
                <a:spcBef>
                  <a:spcPts val="0"/>
                </a:spcBef>
                <a:spcAft>
                  <a:spcPts val="0"/>
                </a:spcAft>
                <a:buClr>
                  <a:schemeClr val="lt1"/>
                </a:buClr>
                <a:buSzPts val="1700"/>
                <a:buFont typeface="Garamond"/>
                <a:buNone/>
              </a:pPr>
              <a:r>
                <a:rPr b="1" lang="es-EC" sz="1700">
                  <a:solidFill>
                    <a:schemeClr val="lt1"/>
                  </a:solidFill>
                  <a:latin typeface="Garamond"/>
                  <a:ea typeface="Garamond"/>
                  <a:cs typeface="Garamond"/>
                  <a:sym typeface="Garamond"/>
                </a:rPr>
                <a:t>TITULO V           DE LA PARTICIPACION CIUDADANA</a:t>
              </a:r>
              <a:endParaRPr/>
            </a:p>
          </p:txBody>
        </p:sp>
        <p:sp>
          <p:nvSpPr>
            <p:cNvPr id="376" name="Google Shape;376;p17"/>
            <p:cNvSpPr/>
            <p:nvPr/>
          </p:nvSpPr>
          <p:spPr>
            <a:xfrm>
              <a:off x="5044915" y="3151414"/>
              <a:ext cx="4049473" cy="3151414"/>
            </a:xfrm>
            <a:prstGeom prst="triangle">
              <a:avLst>
                <a:gd fmla="val 50000" name="adj"/>
              </a:avLst>
            </a:prstGeom>
            <a:solidFill>
              <a:srgbClr val="FFEECD"/>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7"/>
            <p:cNvSpPr txBox="1"/>
            <p:nvPr/>
          </p:nvSpPr>
          <p:spPr>
            <a:xfrm>
              <a:off x="6057283" y="4727121"/>
              <a:ext cx="2024737" cy="1575707"/>
            </a:xfrm>
            <a:prstGeom prst="rect">
              <a:avLst/>
            </a:prstGeom>
            <a:noFill/>
            <a:ln>
              <a:noFill/>
            </a:ln>
          </p:spPr>
          <p:txBody>
            <a:bodyPr anchorCtr="0" anchor="ctr" bIns="57150" lIns="57150" spcFirstLastPara="1" rIns="57150" wrap="square" tIns="57150">
              <a:noAutofit/>
            </a:bodyPr>
            <a:lstStyle/>
            <a:p>
              <a:pPr indent="0" lvl="0" marL="0" marR="0" rtl="0" algn="just">
                <a:lnSpc>
                  <a:spcPct val="90000"/>
                </a:lnSpc>
                <a:spcBef>
                  <a:spcPts val="0"/>
                </a:spcBef>
                <a:spcAft>
                  <a:spcPts val="0"/>
                </a:spcAft>
                <a:buClr>
                  <a:srgbClr val="000000"/>
                </a:buClr>
                <a:buSzPts val="1500"/>
                <a:buFont typeface="Garamond"/>
                <a:buNone/>
              </a:pPr>
              <a:r>
                <a:rPr lang="es-EC" sz="1500">
                  <a:solidFill>
                    <a:srgbClr val="000000"/>
                  </a:solidFill>
                  <a:latin typeface="Garamond"/>
                  <a:ea typeface="Garamond"/>
                  <a:cs typeface="Garamond"/>
                  <a:sym typeface="Garamond"/>
                </a:rPr>
                <a:t>Se facilitará en todas las provincias  formas de acceso gratuito a través del teléfono, Internet o físicamente, para las denuncias del incumplimiento a la ley.</a:t>
              </a:r>
              <a:endParaRPr/>
            </a:p>
          </p:txBody>
        </p:sp>
      </p:grpSp>
      <p:pic>
        <p:nvPicPr>
          <p:cNvPr id="378" name="Google Shape;378;p17"/>
          <p:cNvPicPr preferRelativeResize="0"/>
          <p:nvPr/>
        </p:nvPicPr>
        <p:blipFill rotWithShape="1">
          <a:blip r:embed="rId3">
            <a:alphaModFix/>
          </a:blip>
          <a:srcRect b="16266" l="19100" r="40000" t="41244"/>
          <a:stretch/>
        </p:blipFill>
        <p:spPr>
          <a:xfrm>
            <a:off x="8910922" y="2938272"/>
            <a:ext cx="3171349" cy="1853184"/>
          </a:xfrm>
          <a:prstGeom prst="rect">
            <a:avLst/>
          </a:prstGeom>
          <a:noFill/>
          <a:ln>
            <a:noFill/>
          </a:ln>
        </p:spPr>
      </p:pic>
      <p:pic>
        <p:nvPicPr>
          <p:cNvPr id="379" name="Google Shape;379;p17"/>
          <p:cNvPicPr preferRelativeResize="0"/>
          <p:nvPr/>
        </p:nvPicPr>
        <p:blipFill rotWithShape="1">
          <a:blip r:embed="rId4">
            <a:alphaModFix/>
          </a:blip>
          <a:srcRect b="26755" l="63501" r="5759" t="39467"/>
          <a:stretch/>
        </p:blipFill>
        <p:spPr>
          <a:xfrm>
            <a:off x="0" y="121920"/>
            <a:ext cx="3747951" cy="231648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18"/>
          <p:cNvSpPr txBox="1"/>
          <p:nvPr/>
        </p:nvSpPr>
        <p:spPr>
          <a:xfrm>
            <a:off x="1285343" y="670376"/>
            <a:ext cx="1008377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C" sz="2400">
                <a:solidFill>
                  <a:srgbClr val="002060"/>
                </a:solidFill>
                <a:latin typeface="Garamond"/>
                <a:ea typeface="Garamond"/>
                <a:cs typeface="Garamond"/>
                <a:sym typeface="Garamond"/>
              </a:rPr>
              <a:t>TITULO VI </a:t>
            </a:r>
            <a:endParaRPr/>
          </a:p>
          <a:p>
            <a:pPr indent="0" lvl="0" marL="0" marR="0" rtl="0" algn="l">
              <a:spcBef>
                <a:spcPts val="0"/>
              </a:spcBef>
              <a:spcAft>
                <a:spcPts val="0"/>
              </a:spcAft>
              <a:buNone/>
            </a:pPr>
            <a:r>
              <a:rPr b="1" lang="es-EC" sz="2400">
                <a:solidFill>
                  <a:srgbClr val="002060"/>
                </a:solidFill>
                <a:latin typeface="Garamond"/>
                <a:ea typeface="Garamond"/>
                <a:cs typeface="Garamond"/>
                <a:sym typeface="Garamond"/>
              </a:rPr>
              <a:t>DEL REGIMEN ADMINISTRATIVO Y SANCIONADOR</a:t>
            </a:r>
            <a:endParaRPr/>
          </a:p>
        </p:txBody>
      </p:sp>
      <p:grpSp>
        <p:nvGrpSpPr>
          <p:cNvPr id="385" name="Google Shape;385;p18"/>
          <p:cNvGrpSpPr/>
          <p:nvPr/>
        </p:nvGrpSpPr>
        <p:grpSpPr>
          <a:xfrm>
            <a:off x="1288349" y="1738299"/>
            <a:ext cx="9615299" cy="4377780"/>
            <a:chOff x="3006" y="71545"/>
            <a:chExt cx="9615299" cy="4377780"/>
          </a:xfrm>
        </p:grpSpPr>
        <p:sp>
          <p:nvSpPr>
            <p:cNvPr id="386" name="Google Shape;386;p18"/>
            <p:cNvSpPr/>
            <p:nvPr/>
          </p:nvSpPr>
          <p:spPr>
            <a:xfrm>
              <a:off x="3006" y="71545"/>
              <a:ext cx="2931493" cy="633600"/>
            </a:xfrm>
            <a:prstGeom prst="rect">
              <a:avLst/>
            </a:prstGeom>
            <a:solidFill>
              <a:srgbClr val="666699"/>
            </a:solidFill>
            <a:ln cap="flat" cmpd="sng" w="15875">
              <a:solidFill>
                <a:srgbClr val="8299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8"/>
            <p:cNvSpPr txBox="1"/>
            <p:nvPr/>
          </p:nvSpPr>
          <p:spPr>
            <a:xfrm>
              <a:off x="3006" y="71545"/>
              <a:ext cx="2931493" cy="633600"/>
            </a:xfrm>
            <a:prstGeom prst="rect">
              <a:avLst/>
            </a:prstGeom>
            <a:no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Clr>
                  <a:schemeClr val="lt1"/>
                </a:buClr>
                <a:buSzPts val="2400"/>
                <a:buFont typeface="Garamond"/>
                <a:buNone/>
              </a:pPr>
              <a:r>
                <a:rPr b="1" lang="es-EC" sz="2400">
                  <a:solidFill>
                    <a:schemeClr val="lt1"/>
                  </a:solidFill>
                  <a:latin typeface="Garamond"/>
                  <a:ea typeface="Garamond"/>
                  <a:cs typeface="Garamond"/>
                  <a:sym typeface="Garamond"/>
                </a:rPr>
                <a:t>Art. 16</a:t>
              </a:r>
              <a:endParaRPr/>
            </a:p>
          </p:txBody>
        </p:sp>
        <p:sp>
          <p:nvSpPr>
            <p:cNvPr id="388" name="Google Shape;388;p18"/>
            <p:cNvSpPr/>
            <p:nvPr/>
          </p:nvSpPr>
          <p:spPr>
            <a:xfrm>
              <a:off x="3006" y="705145"/>
              <a:ext cx="2931493" cy="3744180"/>
            </a:xfrm>
            <a:prstGeom prst="rect">
              <a:avLst/>
            </a:prstGeom>
            <a:solidFill>
              <a:srgbClr val="C4C4C4">
                <a:alpha val="90196"/>
              </a:srgbClr>
            </a:solidFill>
            <a:ln cap="flat" cmpd="sng" w="15875">
              <a:solidFill>
                <a:srgbClr val="D8DDC9">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8"/>
            <p:cNvSpPr txBox="1"/>
            <p:nvPr/>
          </p:nvSpPr>
          <p:spPr>
            <a:xfrm>
              <a:off x="3006" y="705145"/>
              <a:ext cx="2931493" cy="3744180"/>
            </a:xfrm>
            <a:prstGeom prst="rect">
              <a:avLst/>
            </a:prstGeom>
            <a:noFill/>
            <a:ln>
              <a:noFill/>
            </a:ln>
          </p:spPr>
          <p:txBody>
            <a:bodyPr anchorCtr="0" anchor="t" bIns="176000" lIns="117325" spcFirstLastPara="1" rIns="156450" wrap="square" tIns="117325">
              <a:noAutofit/>
            </a:bodyPr>
            <a:lstStyle/>
            <a:p>
              <a:pPr indent="-228600" lvl="1" marL="228600" marR="0" rtl="0" algn="just">
                <a:lnSpc>
                  <a:spcPct val="90000"/>
                </a:lnSpc>
                <a:spcBef>
                  <a:spcPts val="0"/>
                </a:spcBef>
                <a:spcAft>
                  <a:spcPts val="0"/>
                </a:spcAft>
                <a:buClr>
                  <a:schemeClr val="dk1"/>
                </a:buClr>
                <a:buSzPts val="2200"/>
                <a:buFont typeface="Garamond"/>
                <a:buChar char="•"/>
              </a:pPr>
              <a:r>
                <a:rPr b="0" i="0" lang="es-EC" sz="2200" u="none" cap="none" strike="noStrike">
                  <a:solidFill>
                    <a:schemeClr val="dk1"/>
                  </a:solidFill>
                  <a:latin typeface="Garamond"/>
                  <a:ea typeface="Garamond"/>
                  <a:cs typeface="Garamond"/>
                  <a:sym typeface="Garamond"/>
                </a:rPr>
                <a:t>La autoridad sanitaria nacional establecerá medidas preventivas, para que las autoridades y directivos de establecimientos que inobserven por acción u omisión la ley, se sujeten a lo establecido en la misma.</a:t>
              </a:r>
              <a:endParaRPr/>
            </a:p>
          </p:txBody>
        </p:sp>
        <p:sp>
          <p:nvSpPr>
            <p:cNvPr id="390" name="Google Shape;390;p18"/>
            <p:cNvSpPr/>
            <p:nvPr/>
          </p:nvSpPr>
          <p:spPr>
            <a:xfrm>
              <a:off x="3344909" y="71545"/>
              <a:ext cx="2931493" cy="633600"/>
            </a:xfrm>
            <a:prstGeom prst="rect">
              <a:avLst/>
            </a:prstGeom>
            <a:solidFill>
              <a:srgbClr val="666699"/>
            </a:solidFill>
            <a:ln cap="flat" cmpd="sng" w="15875">
              <a:solidFill>
                <a:srgbClr val="8299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8"/>
            <p:cNvSpPr txBox="1"/>
            <p:nvPr/>
          </p:nvSpPr>
          <p:spPr>
            <a:xfrm>
              <a:off x="3344909" y="71545"/>
              <a:ext cx="2931493" cy="633600"/>
            </a:xfrm>
            <a:prstGeom prst="rect">
              <a:avLst/>
            </a:prstGeom>
            <a:no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Clr>
                  <a:schemeClr val="lt1"/>
                </a:buClr>
                <a:buSzPts val="2400"/>
                <a:buFont typeface="Garamond"/>
                <a:buNone/>
              </a:pPr>
              <a:r>
                <a:rPr b="1" lang="es-EC" sz="2400">
                  <a:solidFill>
                    <a:schemeClr val="lt1"/>
                  </a:solidFill>
                  <a:latin typeface="Garamond"/>
                  <a:ea typeface="Garamond"/>
                  <a:cs typeface="Garamond"/>
                  <a:sym typeface="Garamond"/>
                </a:rPr>
                <a:t>Art. 17</a:t>
              </a:r>
              <a:endParaRPr/>
            </a:p>
          </p:txBody>
        </p:sp>
        <p:sp>
          <p:nvSpPr>
            <p:cNvPr id="392" name="Google Shape;392;p18"/>
            <p:cNvSpPr/>
            <p:nvPr/>
          </p:nvSpPr>
          <p:spPr>
            <a:xfrm>
              <a:off x="3344909" y="705145"/>
              <a:ext cx="2931493" cy="3744180"/>
            </a:xfrm>
            <a:prstGeom prst="rect">
              <a:avLst/>
            </a:prstGeom>
            <a:solidFill>
              <a:srgbClr val="C4C4C4">
                <a:alpha val="90196"/>
              </a:srgbClr>
            </a:solidFill>
            <a:ln cap="flat" cmpd="sng" w="15875">
              <a:solidFill>
                <a:srgbClr val="D8DDC9">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8"/>
            <p:cNvSpPr txBox="1"/>
            <p:nvPr/>
          </p:nvSpPr>
          <p:spPr>
            <a:xfrm>
              <a:off x="3344909" y="705145"/>
              <a:ext cx="2931493" cy="3744180"/>
            </a:xfrm>
            <a:prstGeom prst="rect">
              <a:avLst/>
            </a:prstGeom>
            <a:noFill/>
            <a:ln>
              <a:noFill/>
            </a:ln>
          </p:spPr>
          <p:txBody>
            <a:bodyPr anchorCtr="0" anchor="t" bIns="176000" lIns="117325" spcFirstLastPara="1" rIns="156450" wrap="square" tIns="117325">
              <a:noAutofit/>
            </a:bodyPr>
            <a:lstStyle/>
            <a:p>
              <a:pPr indent="-228600" lvl="1" marL="228600" marR="0" rtl="0" algn="just">
                <a:lnSpc>
                  <a:spcPct val="90000"/>
                </a:lnSpc>
                <a:spcBef>
                  <a:spcPts val="0"/>
                </a:spcBef>
                <a:spcAft>
                  <a:spcPts val="0"/>
                </a:spcAft>
                <a:buClr>
                  <a:schemeClr val="dk1"/>
                </a:buClr>
                <a:buSzPts val="2200"/>
                <a:buFont typeface="Garamond"/>
                <a:buChar char="•"/>
              </a:pPr>
              <a:r>
                <a:rPr b="0" i="0" lang="es-EC" sz="2200" u="none" cap="none" strike="noStrike">
                  <a:solidFill>
                    <a:schemeClr val="dk1"/>
                  </a:solidFill>
                  <a:latin typeface="Garamond"/>
                  <a:ea typeface="Garamond"/>
                  <a:cs typeface="Garamond"/>
                  <a:sym typeface="Garamond"/>
                </a:rPr>
                <a:t>El procedimiento para la imposición de las sanciones a que haya lugar, se realizará conforme a las disposiciones de la Ley Orgánica de Salud.</a:t>
              </a:r>
              <a:endParaRPr/>
            </a:p>
          </p:txBody>
        </p:sp>
        <p:sp>
          <p:nvSpPr>
            <p:cNvPr id="394" name="Google Shape;394;p18"/>
            <p:cNvSpPr/>
            <p:nvPr/>
          </p:nvSpPr>
          <p:spPr>
            <a:xfrm>
              <a:off x="6686812" y="71545"/>
              <a:ext cx="2931493" cy="633600"/>
            </a:xfrm>
            <a:prstGeom prst="rect">
              <a:avLst/>
            </a:prstGeom>
            <a:solidFill>
              <a:srgbClr val="666699"/>
            </a:solidFill>
            <a:ln cap="flat" cmpd="sng" w="15875">
              <a:solidFill>
                <a:srgbClr val="8299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txBox="1"/>
            <p:nvPr/>
          </p:nvSpPr>
          <p:spPr>
            <a:xfrm>
              <a:off x="6686812" y="71545"/>
              <a:ext cx="2931493" cy="633600"/>
            </a:xfrm>
            <a:prstGeom prst="rect">
              <a:avLst/>
            </a:prstGeom>
            <a:no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Clr>
                  <a:schemeClr val="lt1"/>
                </a:buClr>
                <a:buSzPts val="2400"/>
                <a:buFont typeface="Garamond"/>
                <a:buNone/>
              </a:pPr>
              <a:r>
                <a:rPr b="1" lang="es-EC" sz="2400">
                  <a:solidFill>
                    <a:schemeClr val="lt1"/>
                  </a:solidFill>
                  <a:latin typeface="Garamond"/>
                  <a:ea typeface="Garamond"/>
                  <a:cs typeface="Garamond"/>
                  <a:sym typeface="Garamond"/>
                </a:rPr>
                <a:t>Art. 18</a:t>
              </a:r>
              <a:endParaRPr/>
            </a:p>
          </p:txBody>
        </p:sp>
        <p:sp>
          <p:nvSpPr>
            <p:cNvPr id="396" name="Google Shape;396;p18"/>
            <p:cNvSpPr/>
            <p:nvPr/>
          </p:nvSpPr>
          <p:spPr>
            <a:xfrm>
              <a:off x="6686812" y="705145"/>
              <a:ext cx="2931493" cy="3744180"/>
            </a:xfrm>
            <a:prstGeom prst="rect">
              <a:avLst/>
            </a:prstGeom>
            <a:solidFill>
              <a:srgbClr val="C4C4C4">
                <a:alpha val="90196"/>
              </a:srgbClr>
            </a:solidFill>
            <a:ln cap="flat" cmpd="sng" w="15875">
              <a:solidFill>
                <a:srgbClr val="D8DDC9">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8"/>
            <p:cNvSpPr txBox="1"/>
            <p:nvPr/>
          </p:nvSpPr>
          <p:spPr>
            <a:xfrm>
              <a:off x="6686812" y="705145"/>
              <a:ext cx="2931493" cy="3744180"/>
            </a:xfrm>
            <a:prstGeom prst="rect">
              <a:avLst/>
            </a:prstGeom>
            <a:noFill/>
            <a:ln>
              <a:noFill/>
            </a:ln>
          </p:spPr>
          <p:txBody>
            <a:bodyPr anchorCtr="0" anchor="t" bIns="176000" lIns="117325" spcFirstLastPara="1" rIns="156450" wrap="square" tIns="117325">
              <a:noAutofit/>
            </a:bodyPr>
            <a:lstStyle/>
            <a:p>
              <a:pPr indent="-228600" lvl="1" marL="228600" marR="0" rtl="0" algn="just">
                <a:lnSpc>
                  <a:spcPct val="90000"/>
                </a:lnSpc>
                <a:spcBef>
                  <a:spcPts val="0"/>
                </a:spcBef>
                <a:spcAft>
                  <a:spcPts val="0"/>
                </a:spcAft>
                <a:buClr>
                  <a:schemeClr val="dk1"/>
                </a:buClr>
                <a:buSzPts val="2200"/>
                <a:buFont typeface="Garamond"/>
                <a:buChar char="•"/>
              </a:pPr>
              <a:r>
                <a:rPr b="0" i="0" lang="es-EC" sz="2200" u="none" cap="none" strike="noStrike">
                  <a:solidFill>
                    <a:schemeClr val="dk1"/>
                  </a:solidFill>
                  <a:latin typeface="Garamond"/>
                  <a:ea typeface="Garamond"/>
                  <a:cs typeface="Garamond"/>
                  <a:sym typeface="Garamond"/>
                </a:rPr>
                <a:t>Los productos de tabaco que fueren incautados serán destruidos por la autoridad sanitaria utilizando mecanismos que en la medida de lo posible no afecten al ambiente.</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9"/>
          <p:cNvSpPr txBox="1"/>
          <p:nvPr/>
        </p:nvSpPr>
        <p:spPr>
          <a:xfrm>
            <a:off x="667694" y="744016"/>
            <a:ext cx="10856611" cy="70788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C" sz="2000">
                <a:solidFill>
                  <a:schemeClr val="dk1"/>
                </a:solidFill>
                <a:latin typeface="Garamond"/>
                <a:ea typeface="Garamond"/>
                <a:cs typeface="Garamond"/>
                <a:sym typeface="Garamond"/>
              </a:rPr>
              <a:t>A partir del 15 de julio del 2012 no podrán circular en el territorio nacional productos de tabaco sin las advertencias sanitarias elaboradas y aprobadas por la autoridad sanitaria nacional.</a:t>
            </a:r>
            <a:endParaRPr/>
          </a:p>
        </p:txBody>
      </p:sp>
      <p:pic>
        <p:nvPicPr>
          <p:cNvPr descr="Advertencias sanitarias | Argentina.gob.ar" id="403" name="Google Shape;403;p19"/>
          <p:cNvPicPr preferRelativeResize="0"/>
          <p:nvPr/>
        </p:nvPicPr>
        <p:blipFill rotWithShape="1">
          <a:blip r:embed="rId3">
            <a:alphaModFix/>
          </a:blip>
          <a:srcRect b="2799" l="3587" r="3979" t="18134"/>
          <a:stretch/>
        </p:blipFill>
        <p:spPr>
          <a:xfrm>
            <a:off x="2293716" y="1609209"/>
            <a:ext cx="7604566" cy="459684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descr="1.406.500+ Gracias En Español Fotografías de stock, fotos e imágenes libres  de derechos - iStock | Gracias por su atencion, Muchas gracias, Gracias  fondo blanco" id="408" name="Google Shape;408;p20"/>
          <p:cNvPicPr preferRelativeResize="0"/>
          <p:nvPr/>
        </p:nvPicPr>
        <p:blipFill rotWithShape="1">
          <a:blip r:embed="rId3">
            <a:alphaModFix/>
          </a:blip>
          <a:srcRect b="0" l="0" r="0" t="0"/>
          <a:stretch/>
        </p:blipFill>
        <p:spPr>
          <a:xfrm>
            <a:off x="2512025" y="1637507"/>
            <a:ext cx="7167950" cy="358298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rgánico">
  <a:themeElements>
    <a:clrScheme name="Orgánico">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2024-12-12T13:11:41Z</dcterms:created>
  <dc:creator>GABRIELA ALEJANDRA LALANGUI YAGUANA</dc:creator>
</cp:coreProperties>
</file>